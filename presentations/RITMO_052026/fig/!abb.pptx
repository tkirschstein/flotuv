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6" r:id="rId7"/>
    <p:sldId id="259" r:id="rId8"/>
    <p:sldId id="260" r:id="rId9"/>
    <p:sldId id="261" r:id="rId10"/>
    <p:sldId id="263" r:id="rId11"/>
    <p:sldId id="262" r:id="rId12"/>
    <p:sldId id="264" r:id="rId13"/>
    <p:sldId id="266" r:id="rId14"/>
    <p:sldId id="267" r:id="rId15"/>
    <p:sldId id="265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94D60B-5470-4498-9EA0-36329373D7A3}" v="1" dt="2026-04-26T18:03:07.3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75" d="100"/>
          <a:sy n="75" d="100"/>
        </p:scale>
        <p:origin x="936" y="1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schstein, Thomas" userId="919c7545-f9ae-4451-a4d1-28753b1796cc" providerId="ADAL" clId="{8178FA0C-3989-435F-A6B7-56D41B4E769F}"/>
    <pc:docChg chg="addSld modSld">
      <pc:chgData name="Kirschstein, Thomas" userId="919c7545-f9ae-4451-a4d1-28753b1796cc" providerId="ADAL" clId="{8178FA0C-3989-435F-A6B7-56D41B4E769F}" dt="2026-04-26T18:40:49.438" v="4" actId="962"/>
      <pc:docMkLst>
        <pc:docMk/>
      </pc:docMkLst>
      <pc:sldChg chg="modSp">
        <pc:chgData name="Kirschstein, Thomas" userId="919c7545-f9ae-4451-a4d1-28753b1796cc" providerId="ADAL" clId="{8178FA0C-3989-435F-A6B7-56D41B4E769F}" dt="2026-04-26T18:03:07.353" v="0"/>
        <pc:sldMkLst>
          <pc:docMk/>
          <pc:sldMk cId="918184282" sldId="256"/>
        </pc:sldMkLst>
        <pc:picChg chg="mod">
          <ac:chgData name="Kirschstein, Thomas" userId="919c7545-f9ae-4451-a4d1-28753b1796cc" providerId="ADAL" clId="{8178FA0C-3989-435F-A6B7-56D41B4E769F}" dt="2026-04-26T18:03:07.353" v="0"/>
          <ac:picMkLst>
            <pc:docMk/>
            <pc:sldMk cId="918184282" sldId="256"/>
            <ac:picMk id="6" creationId="{E91A49F8-70CC-F3C8-807F-8E6736089FBB}"/>
          </ac:picMkLst>
        </pc:picChg>
      </pc:sldChg>
      <pc:sldChg chg="addSp modSp new mod">
        <pc:chgData name="Kirschstein, Thomas" userId="919c7545-f9ae-4451-a4d1-28753b1796cc" providerId="ADAL" clId="{8178FA0C-3989-435F-A6B7-56D41B4E769F}" dt="2026-04-26T18:40:49.438" v="4" actId="962"/>
        <pc:sldMkLst>
          <pc:docMk/>
          <pc:sldMk cId="629928326" sldId="257"/>
        </pc:sldMkLst>
        <pc:picChg chg="add mod">
          <ac:chgData name="Kirschstein, Thomas" userId="919c7545-f9ae-4451-a4d1-28753b1796cc" providerId="ADAL" clId="{8178FA0C-3989-435F-A6B7-56D41B4E769F}" dt="2026-04-26T18:40:49.438" v="4" actId="962"/>
          <ac:picMkLst>
            <pc:docMk/>
            <pc:sldMk cId="629928326" sldId="257"/>
            <ac:picMk id="5" creationId="{EEF26B18-04BB-6C3C-7645-5F6A2D836F2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D7E625-B593-7566-09EC-6F80AA596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43A938A-DA7F-B55A-4517-DAC67C452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48BAF8-86B5-084A-795B-C5C42F9F7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23.05.2026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F8AC78-8A12-7900-83EE-AF6D43B7F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AD0AD1-463E-8C56-1525-9780E3DFA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763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370F35-F3EF-48EE-27E9-47195A31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AC1A2D-6C1E-5C9F-9785-A5EC36FE4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5481CE-FFBE-BE83-9F7D-491F137BD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23.05.2026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AB1C2F-C6AD-54E7-E30A-8F27F1041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E4B907-F448-4A03-AD99-ABE379B5E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8519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EF24DB-4858-CAF0-069A-04C18963F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669507-BCA9-DD53-BEED-F1212042E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BFF72C-6917-721C-9ED1-528E9B6A4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23.05.2026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BB5293-35A1-9F7A-2214-EB8986D53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CBF2FF-8B5F-3163-FA9E-AF80A9893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2647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7D98D7-E329-2E7A-E75A-41FC3A34A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8EFE99-9444-CA2A-234F-F4335DDB48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B78209F-492B-74FC-A5E3-05C0F2E79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D35C38B-9135-7584-F015-45EB67735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23.05.2026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6DCC21D-D662-CA2B-32E0-19563BA6F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6373603-C035-38B3-5C3C-BA133538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4482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FA160C-A580-7198-C9DF-C732F263A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EB06E2A-464C-8F7F-4D2B-E69288F02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70064D-11AF-0C17-96A6-689062BD7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20B10E1-88FA-36F6-C55F-CFFDA7387F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76D88C4-B617-674B-7DC1-A366F01341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F3E314F-AD05-D303-3A38-69C388721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23.05.2026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C1F52C1-54EA-C693-3C80-0C6AD44D5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B88D3D8-957A-9129-BD51-41C998D6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4544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D63672-B8DB-1C9B-872D-26E94D364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2345295-A148-579C-9F42-6D8D27095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23.05.2026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2CD130-C6AA-0E41-0E98-D1E081CDF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1A6A3A-A206-31B8-B6FE-EB2DFCFD7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3578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2E4F731-5263-D161-FDE9-50AE32571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23.05.2026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F0FFC58-F757-072B-D5FF-71B0344CC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6B3964-5342-9C10-4FD4-6E310356B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0547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5C8830-5997-A3D4-46AA-69E4263C6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A56DD2-6AD6-CCF6-DC6E-421ED573C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83D8C86-05AD-2968-6B4D-44098E097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4E5826-2D52-478E-8303-E3C8BE1CD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23.05.2026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2305816-6F3B-4C6F-6DF7-B14722768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080B83-918C-6BC4-E886-A3D028EE5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2230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135E72-6DD1-C811-9632-2CAC34829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55B4C68-2D4D-2433-216C-B87AB2675E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694D592-5495-6F32-FF2C-D5943B67D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5F9FFDC-7A82-77DF-6DF9-69B3A404B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23.05.2026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A67D7ED-C9DA-87B0-CB4C-9E668E6F8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0F4E6FB-2E45-3BA8-DE4E-F42E0C55A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3106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89E65A-3CDC-0FE6-66AC-2E571CE1D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F4BFDBA-4301-58CA-E382-C2F88082D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8E361A-B8DE-DAFD-8A4E-4F0B994BC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23.05.2026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DE0EAF-C15A-030D-4289-BC27AF9D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E32B6E-6962-4CA4-5EA4-67CBEFE55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7053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D349B87-8407-8EF1-8BA7-00F0F78AA9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D06D34D-93ED-E8D4-F39E-CB4834730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95B6E3-7FBD-5DD1-F5DD-20D525B9B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3CA0-6C16-4978-9995-9E4B04750984}" type="datetimeFigureOut">
              <a:rPr lang="de-DE" smtClean="0"/>
              <a:t>23.05.2026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D13DBA-BC45-A7AE-148E-D423CE9B4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78D70-D62D-8555-C2AB-82B553A47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5622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B31A40-D498-C6FC-259C-5CE3681E3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9CE9EA8-BA71-42D9-2530-718140E3A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6F0FA4-FF83-6E3B-0CCD-B335FE3FD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3C3CA0-6C16-4978-9995-9E4B04750984}" type="datetimeFigureOut">
              <a:rPr lang="de-DE" smtClean="0"/>
              <a:t>23.05.2026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406C6A-A497-1028-2FDF-A0C8F369C2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A5596F-A5E8-A6EB-12AB-13AD486F1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8BF2CB-93B2-4221-9F57-C499877C35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06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The diagram illustrates the projected market share percentages of medium trucks and vans from 2018 to 2025, with a peak at 30% in 2018 and a decline to 5% by 2025.&#10;&#10;KI-generierte Inhalte können fehlerhaft sein.">
            <a:extLst>
              <a:ext uri="{FF2B5EF4-FFF2-40B4-BE49-F238E27FC236}">
                <a16:creationId xmlns:a16="http://schemas.microsoft.com/office/drawing/2014/main" id="{FE0F5D74-FD75-B87A-3DF4-A8E02277D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034" y="-1"/>
            <a:ext cx="5493963" cy="4810125"/>
          </a:xfrm>
          <a:prstGeom prst="rect">
            <a:avLst/>
          </a:prstGeom>
        </p:spPr>
      </p:pic>
      <p:pic>
        <p:nvPicPr>
          <p:cNvPr id="7" name="Grafik 6" descr="The graph shows a comparison of heavy trucks' market shares in China and the EU-27, with a steady increase in China's share from 2018 to 2025.&#10;&#10;KI-generierte Inhalte können fehlerhaft sein.">
            <a:extLst>
              <a:ext uri="{FF2B5EF4-FFF2-40B4-BE49-F238E27FC236}">
                <a16:creationId xmlns:a16="http://schemas.microsoft.com/office/drawing/2014/main" id="{E3536BE6-5752-66B0-B494-8A4781534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645" y="0"/>
            <a:ext cx="5437736" cy="481012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29DC601-5968-94CF-C37F-A5A86951057A}"/>
              </a:ext>
            </a:extLst>
          </p:cNvPr>
          <p:cNvSpPr txBox="1"/>
          <p:nvPr/>
        </p:nvSpPr>
        <p:spPr>
          <a:xfrm rot="16200000">
            <a:off x="-457923" y="2220394"/>
            <a:ext cx="2465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Sales </a:t>
            </a:r>
            <a:r>
              <a:rPr lang="de-DE" dirty="0" err="1"/>
              <a:t>share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ZEV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C9853C4-8A40-F82F-EEA1-DC40BA29446C}"/>
              </a:ext>
            </a:extLst>
          </p:cNvPr>
          <p:cNvSpPr txBox="1"/>
          <p:nvPr/>
        </p:nvSpPr>
        <p:spPr>
          <a:xfrm rot="16200000">
            <a:off x="5295307" y="2011593"/>
            <a:ext cx="2465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Sales </a:t>
            </a:r>
            <a:r>
              <a:rPr lang="de-DE" dirty="0" err="1"/>
              <a:t>share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ZEV</a:t>
            </a:r>
          </a:p>
        </p:txBody>
      </p:sp>
    </p:spTree>
    <p:extLst>
      <p:ext uri="{BB962C8B-B14F-4D97-AF65-F5344CB8AC3E}">
        <p14:creationId xmlns:p14="http://schemas.microsoft.com/office/powerpoint/2010/main" val="629928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88205F-5F45-8B6D-66EE-A8B38751B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3F0A6C-DE6A-8B99-1C0F-7E7BDE299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 descr="The graph illustrates the projected increase in the market share of heavy trucks and vans in China and the EU-27, with a notable rise in zero-emission vehicle sales from 2019 to 2025.&#10;&#10;KI-generierte Inhalte können fehlerhaft sein.">
            <a:extLst>
              <a:ext uri="{FF2B5EF4-FFF2-40B4-BE49-F238E27FC236}">
                <a16:creationId xmlns:a16="http://schemas.microsoft.com/office/drawing/2014/main" id="{B77F02A6-CB17-39F6-67A4-50E141E7D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6066"/>
            <a:ext cx="12192000" cy="482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563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The image depicts a bar graph illustrating an increasing percentage of people willing to pay a premium for carbon-neutral marine shipping, rising from 71% in 2021 to 82% in 2022.&#10;&#10;KI-generierte Inhalte können fehlerhaft sein.">
            <a:extLst>
              <a:ext uri="{FF2B5EF4-FFF2-40B4-BE49-F238E27FC236}">
                <a16:creationId xmlns:a16="http://schemas.microsoft.com/office/drawing/2014/main" id="{7475D45A-5A3F-1732-8E9A-D083C4E08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254" y="0"/>
            <a:ext cx="72394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84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D460EB-4630-9B2A-929F-40B5E2BF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 descr="The image displays a bar chart comparing the top reasons for demanding carbon-neutral shipping, with 'Regulation' being the most cited reason, followed by 'Demand from customers', 'Financial market pressure', and 'Ability to charge higher prices'.&#10;&#10;KI-generierte Inhalte können fehlerhaft sein.">
            <a:extLst>
              <a:ext uri="{FF2B5EF4-FFF2-40B4-BE49-F238E27FC236}">
                <a16:creationId xmlns:a16="http://schemas.microsoft.com/office/drawing/2014/main" id="{0127D52E-86DB-110E-A048-EFE575F42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7292"/>
            <a:ext cx="12192000" cy="442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985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E17CDE-7B4A-217D-B191-6863F8C76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B90430-D560-19AC-7D67-C31499BF2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 descr="The image shows a Mercedes truck for REWE's logistics, featuring a notice about REWE's investment in an eco-friendly future.&#10;&#10;KI-generierte Inhalte können fehlerhaft sein.">
            <a:extLst>
              <a:ext uri="{FF2B5EF4-FFF2-40B4-BE49-F238E27FC236}">
                <a16:creationId xmlns:a16="http://schemas.microsoft.com/office/drawing/2014/main" id="{F333AF08-EC0C-A825-25D6-B1B877034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7616"/>
            <a:ext cx="12192000" cy="380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197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22674D-74AE-B3D2-F927-1C33F8CEA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F4FCA8-3711-7973-579D-84C9DFB76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 descr="The diagram shows a bar chart depicting the percentage of companies that can calculate their transport-related CO2 emissions, with 60% being able to do so in 2022, compared to 55% in 2021.&#10;&#10;KI-generierte Inhalte können fehlerhaft sein.">
            <a:extLst>
              <a:ext uri="{FF2B5EF4-FFF2-40B4-BE49-F238E27FC236}">
                <a16:creationId xmlns:a16="http://schemas.microsoft.com/office/drawing/2014/main" id="{FFDBE3C1-F337-F475-6096-09C706F28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99" y="571101"/>
            <a:ext cx="8430802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640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18E47E-8185-2B26-227E-4A9F22B23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185DC0-5CF7-38BF-F97B-0831EC322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5" name="Grafik 4" descr="The image presents a pie chart showing the distribution of various methodologies used for CO2 calculation, with the most common being the ISO 14083:2023 at 12.50%, followed by other methodologies at 18.75%, and a 38.17% share of shippers and carriers using their own methodologies.&#10;&#10;KI-generierte Inhalte können fehlerhaft sein.">
            <a:extLst>
              <a:ext uri="{FF2B5EF4-FFF2-40B4-BE49-F238E27FC236}">
                <a16:creationId xmlns:a16="http://schemas.microsoft.com/office/drawing/2014/main" id="{1A6091A4-927B-A241-8571-1DABC924D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0" y="681037"/>
            <a:ext cx="8086529" cy="554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875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B2AC5D-A81E-22B4-FE67-53C2BC81C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 descr="The image shows a bar chart depicting carrier responses to a question regarding the proportion of customers requesting CO2 related transport information, with percentages ranging from less than 10% to more than 80%.&#10;&#10;KI-generierte Inhalte können fehlerhaft sein.">
            <a:extLst>
              <a:ext uri="{FF2B5EF4-FFF2-40B4-BE49-F238E27FC236}">
                <a16:creationId xmlns:a16="http://schemas.microsoft.com/office/drawing/2014/main" id="{FB92A163-6EE0-5545-3900-DF510B1437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7534" y="596900"/>
            <a:ext cx="7783100" cy="558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14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The image presents a bar chart comparing different low carbon energy solutions, with shippers prioritizing battery electric vehicles (25.3%), followed by carriers (17.7%), and other options like HVO, biodiesel, and hydrogen fuel cells.&#10;&#10;KI-generierte Inhalte können fehlerhaft sein.">
            <a:extLst>
              <a:ext uri="{FF2B5EF4-FFF2-40B4-BE49-F238E27FC236}">
                <a16:creationId xmlns:a16="http://schemas.microsoft.com/office/drawing/2014/main" id="{3B6B943C-FC5B-9923-7A65-142624E061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835"/>
          <a:stretch>
            <a:fillRect/>
          </a:stretch>
        </p:blipFill>
        <p:spPr>
          <a:xfrm>
            <a:off x="132731" y="94944"/>
            <a:ext cx="5963270" cy="4382112"/>
          </a:xfrm>
          <a:prstGeom prst="rect">
            <a:avLst/>
          </a:prstGeom>
        </p:spPr>
      </p:pic>
      <p:pic>
        <p:nvPicPr>
          <p:cNvPr id="6" name="Grafik 5" descr="The image presents a bar chart comparing different low carbon energy solutions, with shippers prioritizing battery electric vehicles (25.3%), followed by carriers (17.7%), and other options like HVO, biodiesel, and hydrogen fuel cells.&#10;&#10;KI-generierte Inhalte können fehlerhaft sein.">
            <a:extLst>
              <a:ext uri="{FF2B5EF4-FFF2-40B4-BE49-F238E27FC236}">
                <a16:creationId xmlns:a16="http://schemas.microsoft.com/office/drawing/2014/main" id="{3DDC9FB1-1A5F-614D-F15F-9512F896582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2315"/>
          <a:stretch>
            <a:fillRect/>
          </a:stretch>
        </p:blipFill>
        <p:spPr>
          <a:xfrm>
            <a:off x="4140200" y="94944"/>
            <a:ext cx="2458069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678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The image displays a bar chart summarizing shipper responses, highlighting that the top three priorities in decarbonisation strategies are modal shift to lower carbon transport modes (21.8%), load and routing optimization (18.2%), and carrier optimization (13.8%).&#10;&#10;KI-generierte Inhalte können fehlerhaft sein.">
            <a:extLst>
              <a:ext uri="{FF2B5EF4-FFF2-40B4-BE49-F238E27FC236}">
                <a16:creationId xmlns:a16="http://schemas.microsoft.com/office/drawing/2014/main" id="{E63E4051-8676-0D51-9D80-B55705C1B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52" y="339311"/>
            <a:ext cx="7306695" cy="592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012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4913F4B-AED6-7F1A-FDF0-525110A316A8}"/>
              </a:ext>
            </a:extLst>
          </p:cNvPr>
          <p:cNvSpPr/>
          <p:nvPr/>
        </p:nvSpPr>
        <p:spPr>
          <a:xfrm>
            <a:off x="939800" y="800100"/>
            <a:ext cx="2184400" cy="647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Customer </a:t>
            </a:r>
            <a:r>
              <a:rPr lang="de-DE" dirty="0" err="1"/>
              <a:t>order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AE6B901-E927-42DC-0037-FF0B5C4CF657}"/>
              </a:ext>
            </a:extLst>
          </p:cNvPr>
          <p:cNvSpPr txBox="1"/>
          <p:nvPr/>
        </p:nvSpPr>
        <p:spPr>
          <a:xfrm>
            <a:off x="3378200" y="1143000"/>
            <a:ext cx="4306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Quantity</a:t>
            </a:r>
            <a:r>
              <a:rPr lang="de-DE" dirty="0"/>
              <a:t>/</a:t>
            </a:r>
            <a:r>
              <a:rPr lang="de-DE" dirty="0" err="1"/>
              <a:t>payload</a:t>
            </a:r>
            <a:r>
              <a:rPr lang="de-DE" dirty="0"/>
              <a:t>, </a:t>
            </a:r>
            <a:r>
              <a:rPr lang="de-DE" dirty="0" err="1"/>
              <a:t>coordinates</a:t>
            </a:r>
            <a:r>
              <a:rPr lang="de-DE"/>
              <a:t>, Präferenz </a:t>
            </a:r>
          </a:p>
        </p:txBody>
      </p:sp>
    </p:spTree>
    <p:extLst>
      <p:ext uri="{BB962C8B-B14F-4D97-AF65-F5344CB8AC3E}">
        <p14:creationId xmlns:p14="http://schemas.microsoft.com/office/powerpoint/2010/main" val="492971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57FED58F-2330-73E9-196C-AFB3F7DA8845}"/>
              </a:ext>
            </a:extLst>
          </p:cNvPr>
          <p:cNvSpPr/>
          <p:nvPr/>
        </p:nvSpPr>
        <p:spPr>
          <a:xfrm>
            <a:off x="3009900" y="1028700"/>
            <a:ext cx="3251200" cy="800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dirty="0"/>
              <a:t>Fleet </a:t>
            </a:r>
            <a:r>
              <a:rPr lang="de-DE" sz="2400" b="1" dirty="0" err="1"/>
              <a:t>size</a:t>
            </a:r>
            <a:r>
              <a:rPr lang="de-DE" sz="2400" b="1" dirty="0"/>
              <a:t> &amp; mix 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8F346665-7912-451F-A1CB-62AA3253F316}"/>
              </a:ext>
            </a:extLst>
          </p:cNvPr>
          <p:cNvSpPr/>
          <p:nvPr/>
        </p:nvSpPr>
        <p:spPr>
          <a:xfrm>
            <a:off x="3009900" y="2425700"/>
            <a:ext cx="3251200" cy="800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dirty="0" err="1"/>
              <a:t>Cost</a:t>
            </a:r>
            <a:r>
              <a:rPr lang="de-DE" sz="2400" b="1" dirty="0"/>
              <a:t> </a:t>
            </a:r>
            <a:r>
              <a:rPr lang="de-DE" sz="2400" b="1" dirty="0" err="1"/>
              <a:t>Tarifing</a:t>
            </a:r>
            <a:r>
              <a:rPr lang="de-DE" sz="2400" b="1" dirty="0"/>
              <a:t> &amp; Emission Declaration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E61BFAA7-58AB-1AD5-C92F-E747557E060E}"/>
              </a:ext>
            </a:extLst>
          </p:cNvPr>
          <p:cNvSpPr/>
          <p:nvPr/>
        </p:nvSpPr>
        <p:spPr>
          <a:xfrm>
            <a:off x="3009900" y="3835400"/>
            <a:ext cx="3251200" cy="800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dirty="0"/>
              <a:t>Preference-</a:t>
            </a:r>
            <a:r>
              <a:rPr lang="de-DE" sz="2400" b="1" dirty="0" err="1"/>
              <a:t>oriented</a:t>
            </a:r>
            <a:r>
              <a:rPr lang="de-DE" sz="2400" b="1" dirty="0"/>
              <a:t> Routing &amp; Scheduling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4EEDB33-51DC-C267-DE0D-AC5C052F9C6D}"/>
              </a:ext>
            </a:extLst>
          </p:cNvPr>
          <p:cNvSpPr txBox="1"/>
          <p:nvPr/>
        </p:nvSpPr>
        <p:spPr>
          <a:xfrm>
            <a:off x="1701800" y="1345684"/>
            <a:ext cx="1046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 err="1"/>
              <a:t>strategic</a:t>
            </a:r>
            <a:endParaRPr lang="de-DE" i="1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EFA7B85-7F1B-A208-FBC6-C7AFADF2F77F}"/>
              </a:ext>
            </a:extLst>
          </p:cNvPr>
          <p:cNvSpPr txBox="1"/>
          <p:nvPr/>
        </p:nvSpPr>
        <p:spPr>
          <a:xfrm>
            <a:off x="1701800" y="2641084"/>
            <a:ext cx="92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 err="1"/>
              <a:t>tactical</a:t>
            </a:r>
            <a:endParaRPr lang="de-DE" i="1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AA4A916-C0BB-8BFD-BDED-DE0E1E2F2BB7}"/>
              </a:ext>
            </a:extLst>
          </p:cNvPr>
          <p:cNvSpPr txBox="1"/>
          <p:nvPr/>
        </p:nvSpPr>
        <p:spPr>
          <a:xfrm>
            <a:off x="1508253" y="4050784"/>
            <a:ext cx="1316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/>
              <a:t>operational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79B233B6-8F68-4742-C32C-63D2F48E57A3}"/>
              </a:ext>
            </a:extLst>
          </p:cNvPr>
          <p:cNvCxnSpPr>
            <a:cxnSpLocks/>
          </p:cNvCxnSpPr>
          <p:nvPr/>
        </p:nvCxnSpPr>
        <p:spPr>
          <a:xfrm>
            <a:off x="4165600" y="1834118"/>
            <a:ext cx="0" cy="590898"/>
          </a:xfrm>
          <a:prstGeom prst="straightConnector1">
            <a:avLst/>
          </a:prstGeom>
          <a:ln w="31750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EDA888E4-5889-69A4-D769-065C96388361}"/>
              </a:ext>
            </a:extLst>
          </p:cNvPr>
          <p:cNvSpPr txBox="1"/>
          <p:nvPr/>
        </p:nvSpPr>
        <p:spPr>
          <a:xfrm>
            <a:off x="2858095" y="1894443"/>
            <a:ext cx="1212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#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trucks</a:t>
            </a:r>
            <a:endParaRPr lang="de-DE"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90C4F41E-3F50-E6BF-08EF-C6DB56DD6F1B}"/>
              </a:ext>
            </a:extLst>
          </p:cNvPr>
          <p:cNvCxnSpPr>
            <a:cxnSpLocks/>
          </p:cNvCxnSpPr>
          <p:nvPr/>
        </p:nvCxnSpPr>
        <p:spPr>
          <a:xfrm>
            <a:off x="5130800" y="1816100"/>
            <a:ext cx="0" cy="608916"/>
          </a:xfrm>
          <a:prstGeom prst="straightConnector1">
            <a:avLst/>
          </a:prstGeom>
          <a:ln w="31750">
            <a:headEnd type="stealth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BBC8BDF7-2B87-A093-76C7-D0CCE5794DA0}"/>
              </a:ext>
            </a:extLst>
          </p:cNvPr>
          <p:cNvSpPr txBox="1"/>
          <p:nvPr/>
        </p:nvSpPr>
        <p:spPr>
          <a:xfrm>
            <a:off x="5226050" y="1778685"/>
            <a:ext cx="1606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Customer </a:t>
            </a:r>
            <a:r>
              <a:rPr lang="de-DE" dirty="0" err="1"/>
              <a:t>satisfaction</a:t>
            </a:r>
            <a:endParaRPr lang="de-DE" dirty="0"/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F5A2B812-205C-D76E-80FB-54B847227A51}"/>
              </a:ext>
            </a:extLst>
          </p:cNvPr>
          <p:cNvCxnSpPr>
            <a:cxnSpLocks/>
          </p:cNvCxnSpPr>
          <p:nvPr/>
        </p:nvCxnSpPr>
        <p:spPr>
          <a:xfrm>
            <a:off x="4165600" y="3243818"/>
            <a:ext cx="0" cy="590898"/>
          </a:xfrm>
          <a:prstGeom prst="straightConnector1">
            <a:avLst/>
          </a:prstGeom>
          <a:ln w="31750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813FFD4E-C660-A225-E109-DEF25635DC20}"/>
              </a:ext>
            </a:extLst>
          </p:cNvPr>
          <p:cNvSpPr txBox="1"/>
          <p:nvPr/>
        </p:nvSpPr>
        <p:spPr>
          <a:xfrm>
            <a:off x="2377759" y="3225800"/>
            <a:ext cx="1736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/>
              <a:t>#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trucks</a:t>
            </a:r>
            <a:r>
              <a:rPr lang="de-DE" dirty="0"/>
              <a:t> &amp;</a:t>
            </a:r>
          </a:p>
          <a:p>
            <a:pPr algn="r"/>
            <a:r>
              <a:rPr lang="de-DE" dirty="0" err="1"/>
              <a:t>Allocation</a:t>
            </a:r>
            <a:r>
              <a:rPr lang="de-DE" dirty="0"/>
              <a:t> </a:t>
            </a:r>
            <a:r>
              <a:rPr lang="de-DE" dirty="0" err="1"/>
              <a:t>rules</a:t>
            </a:r>
            <a:endParaRPr lang="de-DE" dirty="0"/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C6428F71-87C2-E12D-CF2C-6DB22DBB46DA}"/>
              </a:ext>
            </a:extLst>
          </p:cNvPr>
          <p:cNvCxnSpPr>
            <a:cxnSpLocks/>
          </p:cNvCxnSpPr>
          <p:nvPr/>
        </p:nvCxnSpPr>
        <p:spPr>
          <a:xfrm>
            <a:off x="5130800" y="3225800"/>
            <a:ext cx="0" cy="608916"/>
          </a:xfrm>
          <a:prstGeom prst="straightConnector1">
            <a:avLst/>
          </a:prstGeom>
          <a:ln w="31750">
            <a:headEnd type="stealth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6AD957C9-C0FB-A1F0-6C62-F27B12C4F909}"/>
              </a:ext>
            </a:extLst>
          </p:cNvPr>
          <p:cNvSpPr txBox="1"/>
          <p:nvPr/>
        </p:nvSpPr>
        <p:spPr>
          <a:xfrm>
            <a:off x="5226048" y="3188385"/>
            <a:ext cx="2673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truck</a:t>
            </a:r>
            <a:r>
              <a:rPr lang="de-DE" dirty="0"/>
              <a:t> </a:t>
            </a:r>
            <a:r>
              <a:rPr lang="de-DE" dirty="0" err="1"/>
              <a:t>assignment</a:t>
            </a:r>
            <a:r>
              <a:rPr lang="de-DE" dirty="0"/>
              <a:t> &amp; </a:t>
            </a:r>
          </a:p>
          <a:p>
            <a:r>
              <a:rPr lang="de-DE" dirty="0"/>
              <a:t>Selected </a:t>
            </a:r>
            <a:r>
              <a:rPr lang="de-DE" dirty="0" err="1"/>
              <a:t>allocation</a:t>
            </a:r>
            <a:r>
              <a:rPr lang="de-DE" dirty="0"/>
              <a:t> </a:t>
            </a:r>
            <a:r>
              <a:rPr lang="de-DE" dirty="0" err="1"/>
              <a:t>rules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81904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9AF034F0B670B4891A61F46F0FD4463" ma:contentTypeVersion="13" ma:contentTypeDescription="Ein neues Dokument erstellen." ma:contentTypeScope="" ma:versionID="702f8338609bb484bdb0ddb8e045398d">
  <xsd:schema xmlns:xsd="http://www.w3.org/2001/XMLSchema" xmlns:xs="http://www.w3.org/2001/XMLSchema" xmlns:p="http://schemas.microsoft.com/office/2006/metadata/properties" xmlns:ns2="75a7cc16-a325-42f6-a633-b9d335f46d66" xmlns:ns3="19ceceb8-c9f0-4d85-b02f-4af4389ce7fe" targetNamespace="http://schemas.microsoft.com/office/2006/metadata/properties" ma:root="true" ma:fieldsID="007b09dd0f1b65eae87cbf249639ae35" ns2:_="" ns3:_="">
    <xsd:import namespace="75a7cc16-a325-42f6-a633-b9d335f46d66"/>
    <xsd:import namespace="19ceceb8-c9f0-4d85-b02f-4af4389ce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Them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a7cc16-a325-42f6-a633-b9d335f46d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ildmarkierungen" ma:readOnly="false" ma:fieldId="{5cf76f15-5ced-4ddc-b409-7134ff3c332f}" ma:taxonomyMulti="true" ma:sspId="6eb20c4f-c5c2-492b-9954-d638c64bfe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Thema" ma:index="19" nillable="true" ma:displayName="Thema" ma:format="Dropdown" ma:internalName="Thema">
      <xsd:simpleType>
        <xsd:restriction base="dms:Text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ceceb8-c9f0-4d85-b02f-4af4389ce7fe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f2df28fa-761b-4926-8c79-193c28f00df0}" ma:internalName="TaxCatchAll" ma:showField="CatchAllData" ma:web="19ceceb8-c9f0-4d85-b02f-4af4389ce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hema xmlns="75a7cc16-a325-42f6-a633-b9d335f46d66" xsi:nil="true"/>
    <TaxCatchAll xmlns="19ceceb8-c9f0-4d85-b02f-4af4389ce7fe" xsi:nil="true"/>
    <lcf76f155ced4ddcb4097134ff3c332f xmlns="75a7cc16-a325-42f6-a633-b9d335f46d6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A50926-DF36-4E48-AEF9-9947AD1C4E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a7cc16-a325-42f6-a633-b9d335f46d66"/>
    <ds:schemaRef ds:uri="19ceceb8-c9f0-4d85-b02f-4af4389ce7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1F2C082-E4E9-48CA-A881-0E9B6B53FBD2}">
  <ds:schemaRefs>
    <ds:schemaRef ds:uri="http://schemas.microsoft.com/office/2006/metadata/properties"/>
    <ds:schemaRef ds:uri="http://schemas.microsoft.com/office/infopath/2007/PartnerControls"/>
    <ds:schemaRef ds:uri="75a7cc16-a325-42f6-a633-b9d335f46d66"/>
    <ds:schemaRef ds:uri="19ceceb8-c9f0-4d85-b02f-4af4389ce7fe"/>
  </ds:schemaRefs>
</ds:datastoreItem>
</file>

<file path=customXml/itemProps3.xml><?xml version="1.0" encoding="utf-8"?>
<ds:datastoreItem xmlns:ds="http://schemas.openxmlformats.org/officeDocument/2006/customXml" ds:itemID="{2904A126-324B-49D2-9297-D489D6A59BE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Office PowerPoint</Application>
  <PresentationFormat>Breitbild</PresentationFormat>
  <Paragraphs>16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Kirschstein, Thomas</dc:creator>
  <cp:lastModifiedBy>Kirschstein, Thomas</cp:lastModifiedBy>
  <cp:revision>9</cp:revision>
  <dcterms:created xsi:type="dcterms:W3CDTF">2026-04-26T17:55:08Z</dcterms:created>
  <dcterms:modified xsi:type="dcterms:W3CDTF">2026-05-24T19:46:35Z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0x010100D9AF034F0B670B4891A61F46F0FD4463</vt:lpwstr>
  </property>
  <property fmtid="{D5CDD505-2E9C-101B-9397-08002B2CF9AE}" pid="3" name="MediaServiceImageTags">
    <vt:lpwstr/>
  </property>
</Properties>
</file>
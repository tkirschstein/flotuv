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7" r:id="rId5"/>
    <p:sldId id="258" r:id="rId6"/>
    <p:sldId id="256" r:id="rId7"/>
    <p:sldId id="259" r:id="rId8"/>
    <p:sldId id="260" r:id="rId9"/>
    <p:sldId id="261" r:id="rId10"/>
    <p:sldId id="263" r:id="rId11"/>
    <p:sldId id="262" r:id="rId12"/>
    <p:sldId id="264" r:id="rId13"/>
    <p:sldId id="266" r:id="rId14"/>
    <p:sldId id="267" r:id="rId15"/>
    <p:sldId id="268" r:id="rId16"/>
    <p:sldId id="269" r:id="rId17"/>
    <p:sldId id="265" r:id="rId18"/>
    <p:sldId id="270" r:id="rId19"/>
    <p:sldId id="271" r:id="rId2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94D60B-5470-4498-9EA0-36329373D7A3}" v="1" dt="2026-04-26T18:03:07.3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75" d="100"/>
          <a:sy n="75" d="100"/>
        </p:scale>
        <p:origin x="936" y="16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rschstein, Thomas" userId="919c7545-f9ae-4451-a4d1-28753b1796cc" providerId="ADAL" clId="{8178FA0C-3989-435F-A6B7-56D41B4E769F}"/>
    <pc:docChg chg="addSld modSld">
      <pc:chgData name="Kirschstein, Thomas" userId="919c7545-f9ae-4451-a4d1-28753b1796cc" providerId="ADAL" clId="{8178FA0C-3989-435F-A6B7-56D41B4E769F}" dt="2026-04-26T18:40:49.438" v="4" actId="962"/>
      <pc:docMkLst>
        <pc:docMk/>
      </pc:docMkLst>
      <pc:sldChg chg="modSp">
        <pc:chgData name="Kirschstein, Thomas" userId="919c7545-f9ae-4451-a4d1-28753b1796cc" providerId="ADAL" clId="{8178FA0C-3989-435F-A6B7-56D41B4E769F}" dt="2026-04-26T18:03:07.353" v="0"/>
        <pc:sldMkLst>
          <pc:docMk/>
          <pc:sldMk cId="918184282" sldId="256"/>
        </pc:sldMkLst>
        <pc:picChg chg="mod">
          <ac:chgData name="Kirschstein, Thomas" userId="919c7545-f9ae-4451-a4d1-28753b1796cc" providerId="ADAL" clId="{8178FA0C-3989-435F-A6B7-56D41B4E769F}" dt="2026-04-26T18:03:07.353" v="0"/>
          <ac:picMkLst>
            <pc:docMk/>
            <pc:sldMk cId="918184282" sldId="256"/>
            <ac:picMk id="6" creationId="{E91A49F8-70CC-F3C8-807F-8E6736089FBB}"/>
          </ac:picMkLst>
        </pc:picChg>
      </pc:sldChg>
      <pc:sldChg chg="addSp modSp new mod">
        <pc:chgData name="Kirschstein, Thomas" userId="919c7545-f9ae-4451-a4d1-28753b1796cc" providerId="ADAL" clId="{8178FA0C-3989-435F-A6B7-56D41B4E769F}" dt="2026-04-26T18:40:49.438" v="4" actId="962"/>
        <pc:sldMkLst>
          <pc:docMk/>
          <pc:sldMk cId="629928326" sldId="257"/>
        </pc:sldMkLst>
        <pc:picChg chg="add mod">
          <ac:chgData name="Kirschstein, Thomas" userId="919c7545-f9ae-4451-a4d1-28753b1796cc" providerId="ADAL" clId="{8178FA0C-3989-435F-A6B7-56D41B4E769F}" dt="2026-04-26T18:40:49.438" v="4" actId="962"/>
          <ac:picMkLst>
            <pc:docMk/>
            <pc:sldMk cId="629928326" sldId="257"/>
            <ac:picMk id="5" creationId="{EEF26B18-04BB-6C3C-7645-5F6A2D836F2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D7E625-B593-7566-09EC-6F80AA596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43A938A-DA7F-B55A-4517-DAC67C452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48BAF8-86B5-084A-795B-C5C42F9F7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F8AC78-8A12-7900-83EE-AF6D43B7F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9AD0AD1-463E-8C56-1525-9780E3DFA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763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370F35-F3EF-48EE-27E9-47195A310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AC1A2D-6C1E-5C9F-9785-A5EC36FE4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5481CE-FFBE-BE83-9F7D-491F137BD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AB1C2F-C6AD-54E7-E30A-8F27F1041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E4B907-F448-4A03-AD99-ABE379B5E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851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EF24DB-4858-CAF0-069A-04C18963F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4669507-BCA9-DD53-BEED-F1212042E3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BBFF72C-6917-721C-9ED1-528E9B6A4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BB5293-35A1-9F7A-2214-EB8986D53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CBF2FF-8B5F-3163-FA9E-AF80A9893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647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7D98D7-E329-2E7A-E75A-41FC3A34A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8EFE99-9444-CA2A-234F-F4335DDB48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B78209F-492B-74FC-A5E3-05C0F2E795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D35C38B-9135-7584-F015-45EB67735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6DCC21D-D662-CA2B-32E0-19563BA6F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6373603-C035-38B3-5C3C-BA133538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44827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FA160C-A580-7198-C9DF-C732F263A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B06E2A-464C-8F7F-4D2B-E69288F02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70064D-11AF-0C17-96A6-689062BD7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20B10E1-88FA-36F6-C55F-CFFDA7387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76D88C4-B617-674B-7DC1-A366F01341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F3E314F-AD05-D303-3A38-69C388721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C1F52C1-54EA-C693-3C80-0C6AD44D5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B88D3D8-957A-9129-BD51-41C998D6E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4544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D63672-B8DB-1C9B-872D-26E94D364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2345295-A148-579C-9F42-6D8D27095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02CD130-C6AA-0E41-0E98-D1E081CDF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81A6A3A-A206-31B8-B6FE-EB2DFCFD7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3578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2E4F731-5263-D161-FDE9-50AE3257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F0FFC58-F757-072B-D5FF-71B0344CC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6B3964-5342-9C10-4FD4-6E310356B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0547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5C8830-5997-A3D4-46AA-69E4263C6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6A56DD2-6AD6-CCF6-DC6E-421ED573C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83D8C86-05AD-2968-6B4D-44098E097D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24E5826-2D52-478E-8303-E3C8BE1CD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2305816-6F3B-4C6F-6DF7-B14722768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A080B83-918C-6BC4-E886-A3D028EE5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2230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135E72-6DD1-C811-9632-2CAC34829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55B4C68-2D4D-2433-216C-B87AB2675E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694D592-5495-6F32-FF2C-D5943B67D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5F9FFDC-7A82-77DF-6DF9-69B3A404B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A67D7ED-C9DA-87B0-CB4C-9E668E6F8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0F4E6FB-2E45-3BA8-DE4E-F42E0C55A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3106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89E65A-3CDC-0FE6-66AC-2E571CE1D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F4BFDBA-4301-58CA-E382-C2F88082D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08E361A-B8DE-DAFD-8A4E-4F0B994BC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DE0EAF-C15A-030D-4289-BC27AF9D7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E32B6E-6962-4CA4-5EA4-67CBEFE55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7053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D349B87-8407-8EF1-8BA7-00F0F78AA9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D06D34D-93ED-E8D4-F39E-CB4834730F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95B6E3-7FBD-5DD1-F5DD-20D525B9B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3CA0-6C16-4978-9995-9E4B04750984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9D13DBA-BC45-A7AE-148E-D423CE9B4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78D70-D62D-8555-C2AB-82B553A47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5622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7B31A40-D498-C6FC-259C-5CE3681E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9CE9EA8-BA71-42D9-2530-718140E3AB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6F0FA4-FF83-6E3B-0CCD-B335FE3FD6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C3CA0-6C16-4978-9995-9E4B04750984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406C6A-A497-1028-2FDF-A0C8F369C2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A5596F-A5E8-A6EB-12AB-13AD486F1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8BF2CB-93B2-4221-9F57-C499877C35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06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6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microsoft.com/office/2007/relationships/hdphoto" Target="../media/hdphoto1.wdp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6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microsoft.com/office/2007/relationships/hdphoto" Target="../media/hdphoto1.wdp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The diagram illustrates the projected market share percentages of medium trucks and vans from 2018 to 2025, with a peak at 30% in 2018 and a decline to 5% by 2025.&#10;&#10;KI-generierte Inhalte können fehlerhaft sein.">
            <a:extLst>
              <a:ext uri="{FF2B5EF4-FFF2-40B4-BE49-F238E27FC236}">
                <a16:creationId xmlns:a16="http://schemas.microsoft.com/office/drawing/2014/main" id="{FE0F5D74-FD75-B87A-3DF4-A8E02277D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034" y="-1"/>
            <a:ext cx="5493963" cy="4810125"/>
          </a:xfrm>
          <a:prstGeom prst="rect">
            <a:avLst/>
          </a:prstGeom>
        </p:spPr>
      </p:pic>
      <p:pic>
        <p:nvPicPr>
          <p:cNvPr id="7" name="Grafik 6" descr="The graph shows a comparison of heavy trucks' market shares in China and the EU-27, with a steady increase in China's share from 2018 to 2025.&#10;&#10;KI-generierte Inhalte können fehlerhaft sein.">
            <a:extLst>
              <a:ext uri="{FF2B5EF4-FFF2-40B4-BE49-F238E27FC236}">
                <a16:creationId xmlns:a16="http://schemas.microsoft.com/office/drawing/2014/main" id="{E3536BE6-5752-66B0-B494-8A4781534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645" y="0"/>
            <a:ext cx="5437736" cy="4810125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E29DC601-5968-94CF-C37F-A5A86951057A}"/>
              </a:ext>
            </a:extLst>
          </p:cNvPr>
          <p:cNvSpPr txBox="1"/>
          <p:nvPr/>
        </p:nvSpPr>
        <p:spPr>
          <a:xfrm rot="16200000">
            <a:off x="-457923" y="2220394"/>
            <a:ext cx="2465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Sales </a:t>
            </a:r>
            <a:r>
              <a:rPr lang="de-DE" dirty="0" err="1"/>
              <a:t>share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ZEV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C9853C4-8A40-F82F-EEA1-DC40BA29446C}"/>
              </a:ext>
            </a:extLst>
          </p:cNvPr>
          <p:cNvSpPr txBox="1"/>
          <p:nvPr/>
        </p:nvSpPr>
        <p:spPr>
          <a:xfrm rot="16200000">
            <a:off x="5295307" y="2011593"/>
            <a:ext cx="2465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Sales </a:t>
            </a:r>
            <a:r>
              <a:rPr lang="de-DE" dirty="0" err="1"/>
              <a:t>share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ZEV</a:t>
            </a:r>
          </a:p>
        </p:txBody>
      </p:sp>
    </p:spTree>
    <p:extLst>
      <p:ext uri="{BB962C8B-B14F-4D97-AF65-F5344CB8AC3E}">
        <p14:creationId xmlns:p14="http://schemas.microsoft.com/office/powerpoint/2010/main" val="629928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88205F-5F45-8B6D-66EE-A8B38751B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3F0A6C-DE6A-8B99-1C0F-7E7BDE299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 descr="The graph illustrates the projected increase in the market share of heavy trucks and vans in China and the EU-27, with a notable rise in zero-emission vehicle sales from 2019 to 2025.&#10;&#10;KI-generierte Inhalte können fehlerhaft sein.">
            <a:extLst>
              <a:ext uri="{FF2B5EF4-FFF2-40B4-BE49-F238E27FC236}">
                <a16:creationId xmlns:a16="http://schemas.microsoft.com/office/drawing/2014/main" id="{B77F02A6-CB17-39F6-67A4-50E141E7D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6066"/>
            <a:ext cx="12192000" cy="4825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563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The image depicts a bar graph illustrating an increasing percentage of people willing to pay a premium for carbon-neutral marine shipping, rising from 71% in 2021 to 82% in 2022.&#10;&#10;KI-generierte Inhalte können fehlerhaft sein.">
            <a:extLst>
              <a:ext uri="{FF2B5EF4-FFF2-40B4-BE49-F238E27FC236}">
                <a16:creationId xmlns:a16="http://schemas.microsoft.com/office/drawing/2014/main" id="{7475D45A-5A3F-1732-8E9A-D083C4E08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254" y="0"/>
            <a:ext cx="72394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184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D460EB-4630-9B2A-929F-40B5E2BF6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 descr="The image displays a bar chart comparing the top reasons for demanding carbon-neutral shipping, with 'Regulation' being the most cited reason, followed by 'Demand from customers', 'Financial market pressure', and 'Ability to charge higher prices'.&#10;&#10;KI-generierte Inhalte können fehlerhaft sein.">
            <a:extLst>
              <a:ext uri="{FF2B5EF4-FFF2-40B4-BE49-F238E27FC236}">
                <a16:creationId xmlns:a16="http://schemas.microsoft.com/office/drawing/2014/main" id="{0127D52E-86DB-110E-A048-EFE575F42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7292"/>
            <a:ext cx="12192000" cy="4423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98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E17CDE-7B4A-217D-B191-6863F8C76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B90430-D560-19AC-7D67-C31499BF29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 descr="The image shows a Mercedes truck for REWE's logistics, featuring a notice about REWE's investment in an eco-friendly future.&#10;&#10;KI-generierte Inhalte können fehlerhaft sein.">
            <a:extLst>
              <a:ext uri="{FF2B5EF4-FFF2-40B4-BE49-F238E27FC236}">
                <a16:creationId xmlns:a16="http://schemas.microsoft.com/office/drawing/2014/main" id="{F333AF08-EC0C-A825-25D6-B1B877034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27616"/>
            <a:ext cx="12192000" cy="380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197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22674D-74AE-B3D2-F927-1C33F8CEA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F4FCA8-3711-7973-579D-84C9DFB76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 descr="The diagram shows a bar chart depicting the percentage of companies that can calculate their transport-related CO2 emissions, with 60% being able to do so in 2022, compared to 55% in 2021.&#10;&#10;KI-generierte Inhalte können fehlerhaft sein.">
            <a:extLst>
              <a:ext uri="{FF2B5EF4-FFF2-40B4-BE49-F238E27FC236}">
                <a16:creationId xmlns:a16="http://schemas.microsoft.com/office/drawing/2014/main" id="{FFDBE3C1-F337-F475-6096-09C706F28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599" y="571101"/>
            <a:ext cx="8430802" cy="5715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640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18E47E-8185-2B26-227E-4A9F22B2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185DC0-5CF7-38BF-F97B-0831EC322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5" name="Grafik 4" descr="The image presents a pie chart showing the distribution of various methodologies used for CO2 calculation, with the most common being the ISO 14083:2023 at 12.50%, followed by other methodologies at 18.75%, and a 38.17% share of shippers and carriers using their own methodologies.&#10;&#10;KI-generierte Inhalte können fehlerhaft sein.">
            <a:extLst>
              <a:ext uri="{FF2B5EF4-FFF2-40B4-BE49-F238E27FC236}">
                <a16:creationId xmlns:a16="http://schemas.microsoft.com/office/drawing/2014/main" id="{1A6091A4-927B-A241-8571-1DABC924D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500" y="681037"/>
            <a:ext cx="8086529" cy="554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875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B2AC5D-A81E-22B4-FE67-53C2BC81C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Inhaltsplatzhalter 4" descr="The image shows a bar chart depicting carrier responses to a question regarding the proportion of customers requesting CO2 related transport information, with percentages ranging from less than 10% to more than 80%.&#10;&#10;KI-generierte Inhalte können fehlerhaft sein.">
            <a:extLst>
              <a:ext uri="{FF2B5EF4-FFF2-40B4-BE49-F238E27FC236}">
                <a16:creationId xmlns:a16="http://schemas.microsoft.com/office/drawing/2014/main" id="{FB92A163-6EE0-5545-3900-DF510B1437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47534" y="596900"/>
            <a:ext cx="7783100" cy="558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149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The image presents a bar chart comparing different low carbon energy solutions, with shippers prioritizing battery electric vehicles (25.3%), followed by carriers (17.7%), and other options like HVO, biodiesel, and hydrogen fuel cells.&#10;&#10;KI-generierte Inhalte können fehlerhaft sein.">
            <a:extLst>
              <a:ext uri="{FF2B5EF4-FFF2-40B4-BE49-F238E27FC236}">
                <a16:creationId xmlns:a16="http://schemas.microsoft.com/office/drawing/2014/main" id="{3B6B943C-FC5B-9923-7A65-142624E061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2835"/>
          <a:stretch>
            <a:fillRect/>
          </a:stretch>
        </p:blipFill>
        <p:spPr>
          <a:xfrm>
            <a:off x="132731" y="94944"/>
            <a:ext cx="5963270" cy="4382112"/>
          </a:xfrm>
          <a:prstGeom prst="rect">
            <a:avLst/>
          </a:prstGeom>
        </p:spPr>
      </p:pic>
      <p:pic>
        <p:nvPicPr>
          <p:cNvPr id="6" name="Grafik 5" descr="The image presents a bar chart comparing different low carbon energy solutions, with shippers prioritizing battery electric vehicles (25.3%), followed by carriers (17.7%), and other options like HVO, biodiesel, and hydrogen fuel cells.&#10;&#10;KI-generierte Inhalte können fehlerhaft sein.">
            <a:extLst>
              <a:ext uri="{FF2B5EF4-FFF2-40B4-BE49-F238E27FC236}">
                <a16:creationId xmlns:a16="http://schemas.microsoft.com/office/drawing/2014/main" id="{3DDC9FB1-1A5F-614D-F15F-9512F896582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2315"/>
          <a:stretch>
            <a:fillRect/>
          </a:stretch>
        </p:blipFill>
        <p:spPr>
          <a:xfrm>
            <a:off x="4140200" y="94944"/>
            <a:ext cx="2458069" cy="438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678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The image displays a bar chart summarizing shipper responses, highlighting that the top three priorities in decarbonisation strategies are modal shift to lower carbon transport modes (21.8%), load and routing optimization (18.2%), and carrier optimization (13.8%).&#10;&#10;KI-generierte Inhalte können fehlerhaft sein.">
            <a:extLst>
              <a:ext uri="{FF2B5EF4-FFF2-40B4-BE49-F238E27FC236}">
                <a16:creationId xmlns:a16="http://schemas.microsoft.com/office/drawing/2014/main" id="{E63E4051-8676-0D51-9D80-B55705C1B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152" y="339311"/>
            <a:ext cx="7306695" cy="592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012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04913F4B-AED6-7F1A-FDF0-525110A316A8}"/>
              </a:ext>
            </a:extLst>
          </p:cNvPr>
          <p:cNvSpPr/>
          <p:nvPr/>
        </p:nvSpPr>
        <p:spPr>
          <a:xfrm>
            <a:off x="4038600" y="4882297"/>
            <a:ext cx="2184400" cy="6477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/>
              <a:t>Customer </a:t>
            </a:r>
            <a:r>
              <a:rPr lang="de-DE" b="1" dirty="0" err="1"/>
              <a:t>orders</a:t>
            </a:r>
            <a:endParaRPr lang="de-DE" b="1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AE6B901-E927-42DC-0037-FF0B5C4CF657}"/>
              </a:ext>
            </a:extLst>
          </p:cNvPr>
          <p:cNvSpPr txBox="1"/>
          <p:nvPr/>
        </p:nvSpPr>
        <p:spPr>
          <a:xfrm>
            <a:off x="3793478" y="5529997"/>
            <a:ext cx="26746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 err="1"/>
              <a:t>Quantity</a:t>
            </a:r>
            <a:r>
              <a:rPr lang="de-DE" dirty="0"/>
              <a:t>/</a:t>
            </a:r>
            <a:r>
              <a:rPr lang="de-DE" dirty="0" err="1"/>
              <a:t>payload</a:t>
            </a:r>
            <a:r>
              <a:rPr lang="de-DE" dirty="0"/>
              <a:t>, </a:t>
            </a:r>
          </a:p>
          <a:p>
            <a:pPr algn="ctr"/>
            <a:r>
              <a:rPr lang="de-DE" dirty="0" err="1"/>
              <a:t>coordinates</a:t>
            </a:r>
            <a:r>
              <a:rPr lang="de-DE" dirty="0"/>
              <a:t>, </a:t>
            </a:r>
            <a:r>
              <a:rPr lang="de-DE" dirty="0" err="1"/>
              <a:t>preferences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BD7E54D-693E-420B-4087-AC42D13B8448}"/>
              </a:ext>
            </a:extLst>
          </p:cNvPr>
          <p:cNvSpPr/>
          <p:nvPr/>
        </p:nvSpPr>
        <p:spPr>
          <a:xfrm>
            <a:off x="459214" y="2851665"/>
            <a:ext cx="2209800" cy="646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Truck Fleet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94369F6-A62C-E6A9-CAB7-3397513A17CA}"/>
              </a:ext>
            </a:extLst>
          </p:cNvPr>
          <p:cNvSpPr txBox="1"/>
          <p:nvPr/>
        </p:nvSpPr>
        <p:spPr>
          <a:xfrm>
            <a:off x="0" y="3588266"/>
            <a:ext cx="31282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 err="1"/>
              <a:t>number</a:t>
            </a:r>
            <a:r>
              <a:rPr lang="de-DE" dirty="0"/>
              <a:t>, </a:t>
            </a:r>
            <a:r>
              <a:rPr lang="de-DE" dirty="0" err="1"/>
              <a:t>technical</a:t>
            </a:r>
            <a:r>
              <a:rPr lang="de-DE" dirty="0"/>
              <a:t>/</a:t>
            </a:r>
            <a:r>
              <a:rPr lang="de-DE" dirty="0" err="1"/>
              <a:t>economic</a:t>
            </a:r>
            <a:r>
              <a:rPr lang="de-DE" dirty="0"/>
              <a:t>/</a:t>
            </a:r>
          </a:p>
          <a:p>
            <a:pPr algn="ctr"/>
            <a:r>
              <a:rPr lang="de-DE" dirty="0" err="1"/>
              <a:t>ecological</a:t>
            </a:r>
            <a:r>
              <a:rPr lang="de-DE" dirty="0"/>
              <a:t> </a:t>
            </a:r>
            <a:r>
              <a:rPr lang="de-DE" dirty="0" err="1"/>
              <a:t>specifications</a:t>
            </a:r>
            <a:r>
              <a:rPr lang="de-DE" dirty="0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31FA318-D5E4-194F-FDD1-928FB469C131}"/>
              </a:ext>
            </a:extLst>
          </p:cNvPr>
          <p:cNvSpPr/>
          <p:nvPr/>
        </p:nvSpPr>
        <p:spPr>
          <a:xfrm>
            <a:off x="3854449" y="954900"/>
            <a:ext cx="2781300" cy="646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 err="1"/>
              <a:t>Costing</a:t>
            </a:r>
            <a:r>
              <a:rPr lang="de-DE" b="1" dirty="0"/>
              <a:t> </a:t>
            </a:r>
            <a:r>
              <a:rPr lang="de-DE" b="1" dirty="0" err="1"/>
              <a:t>tarifs</a:t>
            </a:r>
            <a:r>
              <a:rPr lang="de-DE" b="1" dirty="0"/>
              <a:t> &amp; </a:t>
            </a:r>
            <a:r>
              <a:rPr lang="de-DE" b="1" dirty="0" err="1"/>
              <a:t>emission</a:t>
            </a:r>
            <a:r>
              <a:rPr lang="de-DE" b="1" dirty="0"/>
              <a:t> </a:t>
            </a:r>
            <a:r>
              <a:rPr lang="de-DE" b="1" dirty="0" err="1"/>
              <a:t>declaration</a:t>
            </a:r>
            <a:r>
              <a:rPr lang="de-DE" b="1" dirty="0"/>
              <a:t> </a:t>
            </a:r>
            <a:r>
              <a:rPr lang="de-DE" b="1" dirty="0" err="1"/>
              <a:t>rules</a:t>
            </a:r>
            <a:endParaRPr lang="de-DE" b="1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82A406C-6978-AAC2-58FB-31FE638A9806}"/>
              </a:ext>
            </a:extLst>
          </p:cNvPr>
          <p:cNvSpPr txBox="1"/>
          <p:nvPr/>
        </p:nvSpPr>
        <p:spPr>
          <a:xfrm>
            <a:off x="3560246" y="497006"/>
            <a:ext cx="3369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 err="1"/>
              <a:t>Allocation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, pricing </a:t>
            </a:r>
            <a:r>
              <a:rPr lang="de-DE" dirty="0" err="1"/>
              <a:t>scheme</a:t>
            </a:r>
            <a:endParaRPr lang="de-DE" dirty="0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7E7AFD1E-1EFB-007D-4D5B-33BF7D1CD4D9}"/>
              </a:ext>
            </a:extLst>
          </p:cNvPr>
          <p:cNvSpPr/>
          <p:nvPr/>
        </p:nvSpPr>
        <p:spPr>
          <a:xfrm>
            <a:off x="3412477" y="2103731"/>
            <a:ext cx="3517473" cy="23158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1" noProof="0" dirty="0"/>
              <a:t>Assignment</a:t>
            </a:r>
            <a:r>
              <a:rPr lang="en-US" noProof="0" dirty="0"/>
              <a:t> </a:t>
            </a:r>
            <a:r>
              <a:rPr lang="en-US" noProof="0" dirty="0">
                <a:sym typeface="Wingdings" panose="05000000000000000000" pitchFamily="2" charset="2"/>
              </a:rPr>
              <a:t> customers to vehicles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1" noProof="0" dirty="0">
                <a:sym typeface="Wingdings" panose="05000000000000000000" pitchFamily="2" charset="2"/>
              </a:rPr>
              <a:t>Routing</a:t>
            </a:r>
            <a:r>
              <a:rPr lang="en-US" noProof="0" dirty="0">
                <a:sym typeface="Wingdings" panose="05000000000000000000" pitchFamily="2" charset="2"/>
              </a:rPr>
              <a:t>  sequence of customer visits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1" noProof="0" dirty="0">
                <a:sym typeface="Wingdings" panose="05000000000000000000" pitchFamily="2" charset="2"/>
              </a:rPr>
              <a:t>Declaration</a:t>
            </a:r>
            <a:r>
              <a:rPr lang="en-US" noProof="0" dirty="0">
                <a:sym typeface="Wingdings" panose="05000000000000000000" pitchFamily="2" charset="2"/>
              </a:rPr>
              <a:t>  cost and emission declaration per customer</a:t>
            </a:r>
          </a:p>
        </p:txBody>
      </p:sp>
      <p:pic>
        <p:nvPicPr>
          <p:cNvPr id="12" name="Grafik 11" descr="Blatt Silhouette">
            <a:extLst>
              <a:ext uri="{FF2B5EF4-FFF2-40B4-BE49-F238E27FC236}">
                <a16:creationId xmlns:a16="http://schemas.microsoft.com/office/drawing/2014/main" id="{ED5DB579-C6ED-7F0E-DF46-9A79C8453F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21449" y="5529997"/>
            <a:ext cx="787400" cy="787400"/>
          </a:xfrm>
          <a:prstGeom prst="rect">
            <a:avLst/>
          </a:prstGeom>
        </p:spPr>
      </p:pic>
      <p:pic>
        <p:nvPicPr>
          <p:cNvPr id="15" name="Grafik 14" descr="LKW mit einfarbiger Füllung">
            <a:extLst>
              <a:ext uri="{FF2B5EF4-FFF2-40B4-BE49-F238E27FC236}">
                <a16:creationId xmlns:a16="http://schemas.microsoft.com/office/drawing/2014/main" id="{97EFF3A3-C8C4-EF7E-EB01-D5C19A70FA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9194" y="1937265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5872E874-C2EA-C631-D916-B1F57CDBAAF6}"/>
                  </a:ext>
                </a:extLst>
              </p:cNvPr>
              <p:cNvSpPr txBox="1"/>
              <p:nvPr/>
            </p:nvSpPr>
            <p:spPr>
              <a:xfrm>
                <a:off x="6605292" y="4791333"/>
                <a:ext cx="575478" cy="8309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5400" b="1" i="1" smtClean="0">
                          <a:latin typeface="Cambria Math" panose="02040503050406030204" pitchFamily="18" charset="0"/>
                        </a:rPr>
                        <m:t>€</m:t>
                      </m:r>
                    </m:oMath>
                  </m:oMathPara>
                </a14:m>
                <a:endParaRPr lang="de-DE" sz="4800" b="1" dirty="0"/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5872E874-C2EA-C631-D916-B1F57CDBA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5292" y="4791333"/>
                <a:ext cx="575478" cy="8309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Pfeil: nach oben 17">
            <a:extLst>
              <a:ext uri="{FF2B5EF4-FFF2-40B4-BE49-F238E27FC236}">
                <a16:creationId xmlns:a16="http://schemas.microsoft.com/office/drawing/2014/main" id="{6055A4FB-F3CE-087C-539C-045EDDACD489}"/>
              </a:ext>
            </a:extLst>
          </p:cNvPr>
          <p:cNvSpPr/>
          <p:nvPr/>
        </p:nvSpPr>
        <p:spPr>
          <a:xfrm>
            <a:off x="4883474" y="4422001"/>
            <a:ext cx="463226" cy="4602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Pfeil: nach oben 18">
            <a:extLst>
              <a:ext uri="{FF2B5EF4-FFF2-40B4-BE49-F238E27FC236}">
                <a16:creationId xmlns:a16="http://schemas.microsoft.com/office/drawing/2014/main" id="{1772042A-D861-CB6D-DC74-E5A6C661346B}"/>
              </a:ext>
            </a:extLst>
          </p:cNvPr>
          <p:cNvSpPr/>
          <p:nvPr/>
        </p:nvSpPr>
        <p:spPr>
          <a:xfrm rot="5400000">
            <a:off x="2808592" y="2802559"/>
            <a:ext cx="463226" cy="74454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Pfeil: nach oben 19">
            <a:extLst>
              <a:ext uri="{FF2B5EF4-FFF2-40B4-BE49-F238E27FC236}">
                <a16:creationId xmlns:a16="http://schemas.microsoft.com/office/drawing/2014/main" id="{0FEA608C-E2D8-74D7-DCD5-3DB7C207D3AE}"/>
              </a:ext>
            </a:extLst>
          </p:cNvPr>
          <p:cNvSpPr/>
          <p:nvPr/>
        </p:nvSpPr>
        <p:spPr>
          <a:xfrm rot="10800000">
            <a:off x="4908874" y="1622334"/>
            <a:ext cx="463226" cy="4602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 descr="Electric cargo truck icon">
            <a:extLst>
              <a:ext uri="{FF2B5EF4-FFF2-40B4-BE49-F238E27FC236}">
                <a16:creationId xmlns:a16="http://schemas.microsoft.com/office/drawing/2014/main" id="{FF5332BC-C075-C6C0-501F-D095EADE581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400000"/>
                    </a14:imgEffect>
                  </a14:imgLayer>
                </a14:imgProps>
              </a:ext>
            </a:extLst>
          </a:blip>
          <a:srcRect t="17328" b="15892"/>
          <a:stretch>
            <a:fillRect/>
          </a:stretch>
        </p:blipFill>
        <p:spPr>
          <a:xfrm>
            <a:off x="1484989" y="2090002"/>
            <a:ext cx="967861" cy="646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971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823DD-7241-E83E-D49C-35EA4A63A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3D084C4-BBD2-6F65-9B9A-062EA6F679F9}"/>
              </a:ext>
            </a:extLst>
          </p:cNvPr>
          <p:cNvSpPr/>
          <p:nvPr/>
        </p:nvSpPr>
        <p:spPr>
          <a:xfrm>
            <a:off x="4038600" y="4882297"/>
            <a:ext cx="2184400" cy="6477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/>
              <a:t>Customer </a:t>
            </a:r>
            <a:r>
              <a:rPr lang="de-DE" b="1" dirty="0" err="1"/>
              <a:t>orders</a:t>
            </a:r>
            <a:endParaRPr lang="de-DE" b="1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E25498F-3A7B-8710-F081-C739C1D5DBF5}"/>
              </a:ext>
            </a:extLst>
          </p:cNvPr>
          <p:cNvSpPr txBox="1"/>
          <p:nvPr/>
        </p:nvSpPr>
        <p:spPr>
          <a:xfrm>
            <a:off x="3793478" y="5529997"/>
            <a:ext cx="26746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 err="1"/>
              <a:t>Quantity</a:t>
            </a:r>
            <a:r>
              <a:rPr lang="de-DE" dirty="0"/>
              <a:t>/</a:t>
            </a:r>
            <a:r>
              <a:rPr lang="de-DE" dirty="0" err="1"/>
              <a:t>payload</a:t>
            </a:r>
            <a:r>
              <a:rPr lang="de-DE" dirty="0"/>
              <a:t>, </a:t>
            </a:r>
          </a:p>
          <a:p>
            <a:pPr algn="ctr"/>
            <a:r>
              <a:rPr lang="de-DE" dirty="0" err="1"/>
              <a:t>coordinates</a:t>
            </a:r>
            <a:r>
              <a:rPr lang="de-DE" dirty="0"/>
              <a:t>, </a:t>
            </a:r>
            <a:r>
              <a:rPr lang="de-DE" dirty="0" err="1"/>
              <a:t>preferences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AE7E38C-4B36-395A-0E41-6829E66422B7}"/>
              </a:ext>
            </a:extLst>
          </p:cNvPr>
          <p:cNvSpPr/>
          <p:nvPr/>
        </p:nvSpPr>
        <p:spPr>
          <a:xfrm>
            <a:off x="459214" y="2851665"/>
            <a:ext cx="2209800" cy="646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Truck Fleet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532174-BB7E-F112-D153-3DCECBCB83A7}"/>
              </a:ext>
            </a:extLst>
          </p:cNvPr>
          <p:cNvSpPr txBox="1"/>
          <p:nvPr/>
        </p:nvSpPr>
        <p:spPr>
          <a:xfrm>
            <a:off x="0" y="3588266"/>
            <a:ext cx="31282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 err="1"/>
              <a:t>number</a:t>
            </a:r>
            <a:r>
              <a:rPr lang="de-DE" dirty="0"/>
              <a:t>, </a:t>
            </a:r>
            <a:r>
              <a:rPr lang="de-DE" dirty="0" err="1"/>
              <a:t>technical</a:t>
            </a:r>
            <a:r>
              <a:rPr lang="de-DE" dirty="0"/>
              <a:t>/</a:t>
            </a:r>
            <a:r>
              <a:rPr lang="de-DE" dirty="0" err="1"/>
              <a:t>economic</a:t>
            </a:r>
            <a:r>
              <a:rPr lang="de-DE" dirty="0"/>
              <a:t>/</a:t>
            </a:r>
          </a:p>
          <a:p>
            <a:pPr algn="ctr"/>
            <a:r>
              <a:rPr lang="de-DE" dirty="0" err="1"/>
              <a:t>ecological</a:t>
            </a:r>
            <a:r>
              <a:rPr lang="de-DE" dirty="0"/>
              <a:t> </a:t>
            </a:r>
            <a:r>
              <a:rPr lang="de-DE" dirty="0" err="1"/>
              <a:t>specifications</a:t>
            </a:r>
            <a:r>
              <a:rPr lang="de-DE" dirty="0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E308A23-0ECD-8F5E-80A0-CA545CC99C4D}"/>
              </a:ext>
            </a:extLst>
          </p:cNvPr>
          <p:cNvSpPr/>
          <p:nvPr/>
        </p:nvSpPr>
        <p:spPr>
          <a:xfrm>
            <a:off x="3854449" y="954900"/>
            <a:ext cx="2781300" cy="646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 err="1"/>
              <a:t>Costing</a:t>
            </a:r>
            <a:r>
              <a:rPr lang="de-DE" b="1" dirty="0"/>
              <a:t> </a:t>
            </a:r>
            <a:r>
              <a:rPr lang="de-DE" b="1" dirty="0" err="1"/>
              <a:t>tarifs</a:t>
            </a:r>
            <a:r>
              <a:rPr lang="de-DE" b="1" dirty="0"/>
              <a:t> &amp; </a:t>
            </a:r>
            <a:r>
              <a:rPr lang="de-DE" b="1" dirty="0" err="1"/>
              <a:t>emission</a:t>
            </a:r>
            <a:r>
              <a:rPr lang="de-DE" b="1" dirty="0"/>
              <a:t> </a:t>
            </a:r>
            <a:r>
              <a:rPr lang="de-DE" b="1" dirty="0" err="1"/>
              <a:t>declaration</a:t>
            </a:r>
            <a:r>
              <a:rPr lang="de-DE" b="1" dirty="0"/>
              <a:t> </a:t>
            </a:r>
            <a:r>
              <a:rPr lang="de-DE" b="1" dirty="0" err="1"/>
              <a:t>rules</a:t>
            </a:r>
            <a:endParaRPr lang="de-DE" b="1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01889D2-24C1-4EE2-9DC8-33757496F7A2}"/>
              </a:ext>
            </a:extLst>
          </p:cNvPr>
          <p:cNvSpPr txBox="1"/>
          <p:nvPr/>
        </p:nvSpPr>
        <p:spPr>
          <a:xfrm>
            <a:off x="3560246" y="497006"/>
            <a:ext cx="3369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 err="1"/>
              <a:t>Allocation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, pricing </a:t>
            </a:r>
            <a:r>
              <a:rPr lang="de-DE" dirty="0" err="1"/>
              <a:t>scheme</a:t>
            </a:r>
            <a:endParaRPr lang="de-DE" dirty="0"/>
          </a:p>
        </p:txBody>
      </p:sp>
      <p:pic>
        <p:nvPicPr>
          <p:cNvPr id="12" name="Grafik 11" descr="Blatt Silhouette">
            <a:extLst>
              <a:ext uri="{FF2B5EF4-FFF2-40B4-BE49-F238E27FC236}">
                <a16:creationId xmlns:a16="http://schemas.microsoft.com/office/drawing/2014/main" id="{A7060789-08BA-496C-643D-7555C4E37C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21449" y="5529997"/>
            <a:ext cx="787400" cy="787400"/>
          </a:xfrm>
          <a:prstGeom prst="rect">
            <a:avLst/>
          </a:prstGeom>
        </p:spPr>
      </p:pic>
      <p:pic>
        <p:nvPicPr>
          <p:cNvPr id="15" name="Grafik 14" descr="LKW mit einfarbiger Füllung">
            <a:extLst>
              <a:ext uri="{FF2B5EF4-FFF2-40B4-BE49-F238E27FC236}">
                <a16:creationId xmlns:a16="http://schemas.microsoft.com/office/drawing/2014/main" id="{9BCE7510-4AD0-CECF-16D6-07A4DC6309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9194" y="1937265"/>
            <a:ext cx="914400" cy="914400"/>
          </a:xfrm>
          <a:prstGeom prst="rect">
            <a:avLst/>
          </a:prstGeom>
        </p:spPr>
      </p:pic>
      <p:pic>
        <p:nvPicPr>
          <p:cNvPr id="16" name="Grafik 15" descr="Electric cargo truck icon">
            <a:extLst>
              <a:ext uri="{FF2B5EF4-FFF2-40B4-BE49-F238E27FC236}">
                <a16:creationId xmlns:a16="http://schemas.microsoft.com/office/drawing/2014/main" id="{33DB5B34-5A31-A5D5-E9EB-060A531D7E0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400000"/>
                    </a14:imgEffect>
                  </a14:imgLayer>
                </a14:imgProps>
              </a:ext>
            </a:extLst>
          </a:blip>
          <a:srcRect t="17328" b="15892"/>
          <a:stretch>
            <a:fillRect/>
          </a:stretch>
        </p:blipFill>
        <p:spPr>
          <a:xfrm>
            <a:off x="1484989" y="2090002"/>
            <a:ext cx="967861" cy="64633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FBA074BD-AB63-DC7E-60FF-CB44A1771FF0}"/>
                  </a:ext>
                </a:extLst>
              </p:cNvPr>
              <p:cNvSpPr txBox="1"/>
              <p:nvPr/>
            </p:nvSpPr>
            <p:spPr>
              <a:xfrm>
                <a:off x="6605292" y="4791333"/>
                <a:ext cx="575478" cy="8309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5400" b="1" i="1" smtClean="0">
                          <a:latin typeface="Cambria Math" panose="02040503050406030204" pitchFamily="18" charset="0"/>
                        </a:rPr>
                        <m:t>€</m:t>
                      </m:r>
                    </m:oMath>
                  </m:oMathPara>
                </a14:m>
                <a:endParaRPr lang="de-DE" sz="4800" b="1" dirty="0"/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FBA074BD-AB63-DC7E-60FF-CB44A1771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5292" y="4791333"/>
                <a:ext cx="575478" cy="8309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Pfeil: nach oben 17">
            <a:extLst>
              <a:ext uri="{FF2B5EF4-FFF2-40B4-BE49-F238E27FC236}">
                <a16:creationId xmlns:a16="http://schemas.microsoft.com/office/drawing/2014/main" id="{72FA917B-DD17-8FD7-2101-F21F2220E3B7}"/>
              </a:ext>
            </a:extLst>
          </p:cNvPr>
          <p:cNvSpPr/>
          <p:nvPr/>
        </p:nvSpPr>
        <p:spPr>
          <a:xfrm>
            <a:off x="4883474" y="4422001"/>
            <a:ext cx="463226" cy="4602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Pfeil: nach oben 18">
            <a:extLst>
              <a:ext uri="{FF2B5EF4-FFF2-40B4-BE49-F238E27FC236}">
                <a16:creationId xmlns:a16="http://schemas.microsoft.com/office/drawing/2014/main" id="{8E0EB6FE-FEE3-047B-1837-48F65E45F7CB}"/>
              </a:ext>
            </a:extLst>
          </p:cNvPr>
          <p:cNvSpPr/>
          <p:nvPr/>
        </p:nvSpPr>
        <p:spPr>
          <a:xfrm rot="5400000">
            <a:off x="2808592" y="2802559"/>
            <a:ext cx="463226" cy="74454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Pfeil: nach oben 19">
            <a:extLst>
              <a:ext uri="{FF2B5EF4-FFF2-40B4-BE49-F238E27FC236}">
                <a16:creationId xmlns:a16="http://schemas.microsoft.com/office/drawing/2014/main" id="{5CA1F519-B42A-3C6A-EBDD-1AEC92FA7A24}"/>
              </a:ext>
            </a:extLst>
          </p:cNvPr>
          <p:cNvSpPr/>
          <p:nvPr/>
        </p:nvSpPr>
        <p:spPr>
          <a:xfrm rot="10800000">
            <a:off x="4908874" y="1622334"/>
            <a:ext cx="463226" cy="4602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4B1C8A52-8AEF-DB0D-8E31-DC4717A7C0DD}"/>
              </a:ext>
            </a:extLst>
          </p:cNvPr>
          <p:cNvSpPr/>
          <p:nvPr/>
        </p:nvSpPr>
        <p:spPr>
          <a:xfrm>
            <a:off x="4406900" y="2336800"/>
            <a:ext cx="324000" cy="324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€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B781820A-39FF-386C-B41E-E14CB4933471}"/>
              </a:ext>
            </a:extLst>
          </p:cNvPr>
          <p:cNvSpPr/>
          <p:nvPr/>
        </p:nvSpPr>
        <p:spPr>
          <a:xfrm>
            <a:off x="4867761" y="3632986"/>
            <a:ext cx="288000" cy="288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€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CECBEAD-A7C7-8701-9F38-DC751DDF59A4}"/>
              </a:ext>
            </a:extLst>
          </p:cNvPr>
          <p:cNvSpPr/>
          <p:nvPr/>
        </p:nvSpPr>
        <p:spPr>
          <a:xfrm>
            <a:off x="4756748" y="3094235"/>
            <a:ext cx="216000" cy="216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24504D09-A144-9B28-8BDC-7347DEB522FB}"/>
              </a:ext>
            </a:extLst>
          </p:cNvPr>
          <p:cNvGrpSpPr/>
          <p:nvPr/>
        </p:nvGrpSpPr>
        <p:grpSpPr>
          <a:xfrm>
            <a:off x="3655437" y="2556334"/>
            <a:ext cx="360000" cy="360000"/>
            <a:chOff x="5475900" y="2556549"/>
            <a:chExt cx="360000" cy="360000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8F850D80-72E8-9A31-5B6D-DB3A5CEDADA0}"/>
                </a:ext>
              </a:extLst>
            </p:cNvPr>
            <p:cNvSpPr/>
            <p:nvPr/>
          </p:nvSpPr>
          <p:spPr>
            <a:xfrm>
              <a:off x="5475900" y="2556549"/>
              <a:ext cx="360000" cy="360000"/>
            </a:xfrm>
            <a:prstGeom prst="ellipse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3" name="Grafik 22" descr="Blatt mit einfarbiger Füllung">
              <a:extLst>
                <a:ext uri="{FF2B5EF4-FFF2-40B4-BE49-F238E27FC236}">
                  <a16:creationId xmlns:a16="http://schemas.microsoft.com/office/drawing/2014/main" id="{A6162C8E-2DDA-EA7E-3B84-151D6425A1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520156" y="2589517"/>
              <a:ext cx="288000" cy="288000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C33D2055-32B2-6591-1A0D-1869C13CB1E6}"/>
              </a:ext>
            </a:extLst>
          </p:cNvPr>
          <p:cNvGrpSpPr/>
          <p:nvPr/>
        </p:nvGrpSpPr>
        <p:grpSpPr>
          <a:xfrm>
            <a:off x="5719474" y="3791740"/>
            <a:ext cx="376526" cy="376526"/>
            <a:chOff x="5719474" y="3791740"/>
            <a:chExt cx="376526" cy="376526"/>
          </a:xfrm>
        </p:grpSpPr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249C96DC-7B79-FBCA-3ABB-26F3C6465E6D}"/>
                </a:ext>
              </a:extLst>
            </p:cNvPr>
            <p:cNvSpPr/>
            <p:nvPr/>
          </p:nvSpPr>
          <p:spPr>
            <a:xfrm>
              <a:off x="5719474" y="3791740"/>
              <a:ext cx="376526" cy="376526"/>
            </a:xfrm>
            <a:prstGeom prst="ellipse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4" name="Grafik 23" descr="Blatt mit einfarbiger Füllung">
              <a:extLst>
                <a:ext uri="{FF2B5EF4-FFF2-40B4-BE49-F238E27FC236}">
                  <a16:creationId xmlns:a16="http://schemas.microsoft.com/office/drawing/2014/main" id="{EF20FBF0-D616-10AC-6C95-0D1ABB26829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63737" y="3836003"/>
              <a:ext cx="288000" cy="288000"/>
            </a:xfrm>
            <a:prstGeom prst="rect">
              <a:avLst/>
            </a:prstGeom>
          </p:spPr>
        </p:pic>
      </p:grp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62A26DF-F28D-8E8F-F7E2-275B99F992EB}"/>
              </a:ext>
            </a:extLst>
          </p:cNvPr>
          <p:cNvCxnSpPr>
            <a:cxnSpLocks/>
            <a:stCxn id="14" idx="2"/>
            <a:endCxn id="11" idx="0"/>
          </p:cNvCxnSpPr>
          <p:nvPr/>
        </p:nvCxnSpPr>
        <p:spPr>
          <a:xfrm>
            <a:off x="4864748" y="3310235"/>
            <a:ext cx="147013" cy="32275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54941331-AC8D-56E8-2093-2385A1B1B797}"/>
              </a:ext>
            </a:extLst>
          </p:cNvPr>
          <p:cNvCxnSpPr>
            <a:cxnSpLocks/>
            <a:stCxn id="2" idx="4"/>
            <a:endCxn id="14" idx="0"/>
          </p:cNvCxnSpPr>
          <p:nvPr/>
        </p:nvCxnSpPr>
        <p:spPr>
          <a:xfrm>
            <a:off x="4568900" y="2660800"/>
            <a:ext cx="295848" cy="43343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Verbinder: gekrümmt 39">
            <a:extLst>
              <a:ext uri="{FF2B5EF4-FFF2-40B4-BE49-F238E27FC236}">
                <a16:creationId xmlns:a16="http://schemas.microsoft.com/office/drawing/2014/main" id="{60E47089-7AC7-964E-9838-F8D8E0D1C936}"/>
              </a:ext>
            </a:extLst>
          </p:cNvPr>
          <p:cNvCxnSpPr>
            <a:stCxn id="11" idx="6"/>
            <a:endCxn id="2" idx="6"/>
          </p:cNvCxnSpPr>
          <p:nvPr/>
        </p:nvCxnSpPr>
        <p:spPr>
          <a:xfrm flipH="1" flipV="1">
            <a:off x="4730900" y="2498800"/>
            <a:ext cx="424861" cy="1278186"/>
          </a:xfrm>
          <a:prstGeom prst="curvedConnector3">
            <a:avLst>
              <a:gd name="adj1" fmla="val -53806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CB10F3EF-58CA-3CA4-A8A7-742314959111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>
            <a:off x="4972748" y="3202235"/>
            <a:ext cx="801867" cy="64464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Verbinder: gekrümmt 44">
            <a:extLst>
              <a:ext uri="{FF2B5EF4-FFF2-40B4-BE49-F238E27FC236}">
                <a16:creationId xmlns:a16="http://schemas.microsoft.com/office/drawing/2014/main" id="{183E95D0-65AA-4B86-8346-BB0E9053D112}"/>
              </a:ext>
            </a:extLst>
          </p:cNvPr>
          <p:cNvCxnSpPr>
            <a:stCxn id="13" idx="3"/>
            <a:endCxn id="3" idx="4"/>
          </p:cNvCxnSpPr>
          <p:nvPr/>
        </p:nvCxnSpPr>
        <p:spPr>
          <a:xfrm rot="5400000" flipH="1">
            <a:off x="4206630" y="2545141"/>
            <a:ext cx="1196791" cy="1939178"/>
          </a:xfrm>
          <a:prstGeom prst="curvedConnector3">
            <a:avLst>
              <a:gd name="adj1" fmla="val -4607"/>
            </a:avLst>
          </a:prstGeom>
          <a:ln w="1905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67C84F1-4384-9FBE-2B09-F759249D0556}"/>
              </a:ext>
            </a:extLst>
          </p:cNvPr>
          <p:cNvCxnSpPr>
            <a:cxnSpLocks/>
            <a:stCxn id="3" idx="6"/>
            <a:endCxn id="14" idx="1"/>
          </p:cNvCxnSpPr>
          <p:nvPr/>
        </p:nvCxnSpPr>
        <p:spPr>
          <a:xfrm>
            <a:off x="4015437" y="2736334"/>
            <a:ext cx="741311" cy="465901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8ED00451-B7C4-5C12-A860-48938A0AA604}"/>
              </a:ext>
            </a:extLst>
          </p:cNvPr>
          <p:cNvSpPr txBox="1"/>
          <p:nvPr/>
        </p:nvSpPr>
        <p:spPr>
          <a:xfrm>
            <a:off x="5433785" y="3286944"/>
            <a:ext cx="24039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20 km | 30 € | 5 kg CO2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3F705A74-F95F-A868-328E-89FBED623D27}"/>
              </a:ext>
            </a:extLst>
          </p:cNvPr>
          <p:cNvSpPr txBox="1"/>
          <p:nvPr/>
        </p:nvSpPr>
        <p:spPr>
          <a:xfrm>
            <a:off x="5284363" y="2498800"/>
            <a:ext cx="2527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10 km | 10 € | 15 kg CO2</a:t>
            </a:r>
          </a:p>
        </p:txBody>
      </p:sp>
    </p:spTree>
    <p:extLst>
      <p:ext uri="{BB962C8B-B14F-4D97-AF65-F5344CB8AC3E}">
        <p14:creationId xmlns:p14="http://schemas.microsoft.com/office/powerpoint/2010/main" val="17790265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EAB2A-FC6A-2E70-F202-4A3E0769F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E9436CA-A4DB-20DB-816D-16B0AB9CBC43}"/>
              </a:ext>
            </a:extLst>
          </p:cNvPr>
          <p:cNvSpPr/>
          <p:nvPr/>
        </p:nvSpPr>
        <p:spPr>
          <a:xfrm>
            <a:off x="4038600" y="4882297"/>
            <a:ext cx="2184400" cy="6477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/>
              <a:t>Customer </a:t>
            </a:r>
            <a:r>
              <a:rPr lang="de-DE" b="1" dirty="0" err="1"/>
              <a:t>orders</a:t>
            </a:r>
            <a:endParaRPr lang="de-DE" b="1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8C415EA-990B-02EB-5516-C19BE75BC496}"/>
              </a:ext>
            </a:extLst>
          </p:cNvPr>
          <p:cNvSpPr txBox="1"/>
          <p:nvPr/>
        </p:nvSpPr>
        <p:spPr>
          <a:xfrm>
            <a:off x="3793478" y="5529997"/>
            <a:ext cx="26746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 err="1"/>
              <a:t>Quantity</a:t>
            </a:r>
            <a:r>
              <a:rPr lang="de-DE" dirty="0"/>
              <a:t>/</a:t>
            </a:r>
            <a:r>
              <a:rPr lang="de-DE" dirty="0" err="1"/>
              <a:t>payload</a:t>
            </a:r>
            <a:r>
              <a:rPr lang="de-DE" dirty="0"/>
              <a:t>, </a:t>
            </a:r>
          </a:p>
          <a:p>
            <a:pPr algn="ctr"/>
            <a:r>
              <a:rPr lang="de-DE" dirty="0" err="1"/>
              <a:t>coordinates</a:t>
            </a:r>
            <a:r>
              <a:rPr lang="de-DE" dirty="0"/>
              <a:t>, </a:t>
            </a:r>
            <a:r>
              <a:rPr lang="de-DE" dirty="0" err="1"/>
              <a:t>preferences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861A19D-7FA7-51A2-3A8B-7DDC6A412B27}"/>
              </a:ext>
            </a:extLst>
          </p:cNvPr>
          <p:cNvSpPr/>
          <p:nvPr/>
        </p:nvSpPr>
        <p:spPr>
          <a:xfrm>
            <a:off x="459214" y="2851665"/>
            <a:ext cx="2209800" cy="646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Truck Fleet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F9E6D8C-659E-D49A-2845-19CDBD677427}"/>
              </a:ext>
            </a:extLst>
          </p:cNvPr>
          <p:cNvSpPr txBox="1"/>
          <p:nvPr/>
        </p:nvSpPr>
        <p:spPr>
          <a:xfrm>
            <a:off x="0" y="3588266"/>
            <a:ext cx="31282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 err="1"/>
              <a:t>number</a:t>
            </a:r>
            <a:r>
              <a:rPr lang="de-DE" dirty="0"/>
              <a:t>, </a:t>
            </a:r>
            <a:r>
              <a:rPr lang="de-DE" dirty="0" err="1"/>
              <a:t>technical</a:t>
            </a:r>
            <a:r>
              <a:rPr lang="de-DE" dirty="0"/>
              <a:t>/</a:t>
            </a:r>
            <a:r>
              <a:rPr lang="de-DE" dirty="0" err="1"/>
              <a:t>economic</a:t>
            </a:r>
            <a:r>
              <a:rPr lang="de-DE" dirty="0"/>
              <a:t>/</a:t>
            </a:r>
          </a:p>
          <a:p>
            <a:pPr algn="ctr"/>
            <a:r>
              <a:rPr lang="de-DE" dirty="0" err="1"/>
              <a:t>ecological</a:t>
            </a:r>
            <a:r>
              <a:rPr lang="de-DE" dirty="0"/>
              <a:t> </a:t>
            </a:r>
            <a:r>
              <a:rPr lang="de-DE" dirty="0" err="1"/>
              <a:t>specifications</a:t>
            </a:r>
            <a:r>
              <a:rPr lang="de-DE" dirty="0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7CB1177-AA4A-B75E-90A7-97B88B7A8EC6}"/>
              </a:ext>
            </a:extLst>
          </p:cNvPr>
          <p:cNvSpPr/>
          <p:nvPr/>
        </p:nvSpPr>
        <p:spPr>
          <a:xfrm>
            <a:off x="3854449" y="954900"/>
            <a:ext cx="2781300" cy="646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 err="1"/>
              <a:t>Costing</a:t>
            </a:r>
            <a:r>
              <a:rPr lang="de-DE" b="1" dirty="0"/>
              <a:t> </a:t>
            </a:r>
            <a:r>
              <a:rPr lang="de-DE" b="1" dirty="0" err="1"/>
              <a:t>tarifs</a:t>
            </a:r>
            <a:r>
              <a:rPr lang="de-DE" b="1" dirty="0"/>
              <a:t> &amp; </a:t>
            </a:r>
            <a:r>
              <a:rPr lang="de-DE" b="1" dirty="0" err="1"/>
              <a:t>emission</a:t>
            </a:r>
            <a:r>
              <a:rPr lang="de-DE" b="1" dirty="0"/>
              <a:t> </a:t>
            </a:r>
            <a:r>
              <a:rPr lang="de-DE" b="1" dirty="0" err="1"/>
              <a:t>declaration</a:t>
            </a:r>
            <a:r>
              <a:rPr lang="de-DE" b="1" dirty="0"/>
              <a:t> </a:t>
            </a:r>
            <a:r>
              <a:rPr lang="de-DE" b="1" dirty="0" err="1"/>
              <a:t>rules</a:t>
            </a:r>
            <a:endParaRPr lang="de-DE" b="1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F255771-20FF-56BA-B929-7F7A63AAEAFE}"/>
              </a:ext>
            </a:extLst>
          </p:cNvPr>
          <p:cNvSpPr txBox="1"/>
          <p:nvPr/>
        </p:nvSpPr>
        <p:spPr>
          <a:xfrm>
            <a:off x="3560246" y="497006"/>
            <a:ext cx="3369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 err="1"/>
              <a:t>Allocation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, pricing </a:t>
            </a:r>
            <a:r>
              <a:rPr lang="de-DE" dirty="0" err="1"/>
              <a:t>scheme</a:t>
            </a:r>
            <a:endParaRPr lang="de-DE" dirty="0"/>
          </a:p>
        </p:txBody>
      </p:sp>
      <p:pic>
        <p:nvPicPr>
          <p:cNvPr id="12" name="Grafik 11" descr="Blatt Silhouette">
            <a:extLst>
              <a:ext uri="{FF2B5EF4-FFF2-40B4-BE49-F238E27FC236}">
                <a16:creationId xmlns:a16="http://schemas.microsoft.com/office/drawing/2014/main" id="{B097FD65-F3BB-C449-48A6-65EA24ECEE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21449" y="5529997"/>
            <a:ext cx="787400" cy="787400"/>
          </a:xfrm>
          <a:prstGeom prst="rect">
            <a:avLst/>
          </a:prstGeom>
        </p:spPr>
      </p:pic>
      <p:pic>
        <p:nvPicPr>
          <p:cNvPr id="15" name="Grafik 14" descr="LKW mit einfarbiger Füllung">
            <a:extLst>
              <a:ext uri="{FF2B5EF4-FFF2-40B4-BE49-F238E27FC236}">
                <a16:creationId xmlns:a16="http://schemas.microsoft.com/office/drawing/2014/main" id="{5BF8427D-DF09-8528-C257-3FC17E4426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9194" y="1937265"/>
            <a:ext cx="914400" cy="914400"/>
          </a:xfrm>
          <a:prstGeom prst="rect">
            <a:avLst/>
          </a:prstGeom>
        </p:spPr>
      </p:pic>
      <p:pic>
        <p:nvPicPr>
          <p:cNvPr id="16" name="Grafik 15" descr="Electric cargo truck icon">
            <a:extLst>
              <a:ext uri="{FF2B5EF4-FFF2-40B4-BE49-F238E27FC236}">
                <a16:creationId xmlns:a16="http://schemas.microsoft.com/office/drawing/2014/main" id="{43EBDB55-80AA-1CF1-CF7B-279E5A2E798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400000"/>
                    </a14:imgEffect>
                  </a14:imgLayer>
                </a14:imgProps>
              </a:ext>
            </a:extLst>
          </a:blip>
          <a:srcRect t="17328" b="15892"/>
          <a:stretch>
            <a:fillRect/>
          </a:stretch>
        </p:blipFill>
        <p:spPr>
          <a:xfrm>
            <a:off x="1484989" y="2090002"/>
            <a:ext cx="967861" cy="64633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1A10F356-7067-427F-DF8D-DFA068BF6A78}"/>
                  </a:ext>
                </a:extLst>
              </p:cNvPr>
              <p:cNvSpPr txBox="1"/>
              <p:nvPr/>
            </p:nvSpPr>
            <p:spPr>
              <a:xfrm>
                <a:off x="6605292" y="4791333"/>
                <a:ext cx="575478" cy="8309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5400" b="1" i="1" smtClean="0">
                          <a:latin typeface="Cambria Math" panose="02040503050406030204" pitchFamily="18" charset="0"/>
                        </a:rPr>
                        <m:t>€</m:t>
                      </m:r>
                    </m:oMath>
                  </m:oMathPara>
                </a14:m>
                <a:endParaRPr lang="de-DE" sz="4800" b="1" dirty="0"/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1A10F356-7067-427F-DF8D-DFA068BF6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5292" y="4791333"/>
                <a:ext cx="575478" cy="8309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Pfeil: nach oben 17">
            <a:extLst>
              <a:ext uri="{FF2B5EF4-FFF2-40B4-BE49-F238E27FC236}">
                <a16:creationId xmlns:a16="http://schemas.microsoft.com/office/drawing/2014/main" id="{ED9196AC-7169-6BF7-1670-BD075D4CA69E}"/>
              </a:ext>
            </a:extLst>
          </p:cNvPr>
          <p:cNvSpPr/>
          <p:nvPr/>
        </p:nvSpPr>
        <p:spPr>
          <a:xfrm>
            <a:off x="4883474" y="4422001"/>
            <a:ext cx="463226" cy="4602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Pfeil: nach oben 18">
            <a:extLst>
              <a:ext uri="{FF2B5EF4-FFF2-40B4-BE49-F238E27FC236}">
                <a16:creationId xmlns:a16="http://schemas.microsoft.com/office/drawing/2014/main" id="{56709174-11B7-D5A3-CBAD-2FFB6691AEA7}"/>
              </a:ext>
            </a:extLst>
          </p:cNvPr>
          <p:cNvSpPr/>
          <p:nvPr/>
        </p:nvSpPr>
        <p:spPr>
          <a:xfrm rot="5400000">
            <a:off x="2808592" y="2802559"/>
            <a:ext cx="463226" cy="74454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Pfeil: nach oben 19">
            <a:extLst>
              <a:ext uri="{FF2B5EF4-FFF2-40B4-BE49-F238E27FC236}">
                <a16:creationId xmlns:a16="http://schemas.microsoft.com/office/drawing/2014/main" id="{4042341E-237F-E961-EF38-BD94D9B68E3F}"/>
              </a:ext>
            </a:extLst>
          </p:cNvPr>
          <p:cNvSpPr/>
          <p:nvPr/>
        </p:nvSpPr>
        <p:spPr>
          <a:xfrm rot="10800000">
            <a:off x="4908874" y="1622334"/>
            <a:ext cx="463226" cy="4602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39AEBB1B-3194-B87E-D428-E5AF5405F097}"/>
              </a:ext>
            </a:extLst>
          </p:cNvPr>
          <p:cNvSpPr/>
          <p:nvPr/>
        </p:nvSpPr>
        <p:spPr>
          <a:xfrm>
            <a:off x="4406900" y="2336800"/>
            <a:ext cx="324000" cy="324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€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B72C9AB-0BAF-27C1-EEE6-69A28CD4EED7}"/>
              </a:ext>
            </a:extLst>
          </p:cNvPr>
          <p:cNvSpPr/>
          <p:nvPr/>
        </p:nvSpPr>
        <p:spPr>
          <a:xfrm>
            <a:off x="4867761" y="3632986"/>
            <a:ext cx="288000" cy="288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€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0E60532-0F71-78D4-812A-D45608F0AD03}"/>
              </a:ext>
            </a:extLst>
          </p:cNvPr>
          <p:cNvSpPr/>
          <p:nvPr/>
        </p:nvSpPr>
        <p:spPr>
          <a:xfrm>
            <a:off x="4756748" y="3094235"/>
            <a:ext cx="216000" cy="216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11CF37C0-E9A9-FCED-372E-E8F30DBF6FBE}"/>
              </a:ext>
            </a:extLst>
          </p:cNvPr>
          <p:cNvGrpSpPr/>
          <p:nvPr/>
        </p:nvGrpSpPr>
        <p:grpSpPr>
          <a:xfrm>
            <a:off x="3655437" y="2556334"/>
            <a:ext cx="360000" cy="360000"/>
            <a:chOff x="5475900" y="2556549"/>
            <a:chExt cx="360000" cy="360000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8E693661-3CA3-06CA-0C4C-FDC81B8310C0}"/>
                </a:ext>
              </a:extLst>
            </p:cNvPr>
            <p:cNvSpPr/>
            <p:nvPr/>
          </p:nvSpPr>
          <p:spPr>
            <a:xfrm>
              <a:off x="5475900" y="2556549"/>
              <a:ext cx="360000" cy="360000"/>
            </a:xfrm>
            <a:prstGeom prst="ellipse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3" name="Grafik 22" descr="Blatt mit einfarbiger Füllung">
              <a:extLst>
                <a:ext uri="{FF2B5EF4-FFF2-40B4-BE49-F238E27FC236}">
                  <a16:creationId xmlns:a16="http://schemas.microsoft.com/office/drawing/2014/main" id="{93DE8966-C03F-D86D-4741-E40AC6E2C9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520156" y="2589517"/>
              <a:ext cx="288000" cy="288000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33692B93-2B61-9052-071C-65AD6F33E364}"/>
              </a:ext>
            </a:extLst>
          </p:cNvPr>
          <p:cNvGrpSpPr/>
          <p:nvPr/>
        </p:nvGrpSpPr>
        <p:grpSpPr>
          <a:xfrm>
            <a:off x="5719474" y="3791740"/>
            <a:ext cx="376526" cy="376526"/>
            <a:chOff x="5719474" y="3791740"/>
            <a:chExt cx="376526" cy="376526"/>
          </a:xfrm>
        </p:grpSpPr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8A274AFD-A52C-DEE9-7D8A-70FD648FF346}"/>
                </a:ext>
              </a:extLst>
            </p:cNvPr>
            <p:cNvSpPr/>
            <p:nvPr/>
          </p:nvSpPr>
          <p:spPr>
            <a:xfrm>
              <a:off x="5719474" y="3791740"/>
              <a:ext cx="376526" cy="376526"/>
            </a:xfrm>
            <a:prstGeom prst="ellipse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4" name="Grafik 23" descr="Blatt mit einfarbiger Füllung">
              <a:extLst>
                <a:ext uri="{FF2B5EF4-FFF2-40B4-BE49-F238E27FC236}">
                  <a16:creationId xmlns:a16="http://schemas.microsoft.com/office/drawing/2014/main" id="{6E4DF6CC-6B06-FF75-D085-E0590A81EF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63737" y="3836003"/>
              <a:ext cx="288000" cy="288000"/>
            </a:xfrm>
            <a:prstGeom prst="rect">
              <a:avLst/>
            </a:prstGeom>
          </p:spPr>
        </p:pic>
      </p:grp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DFC6A666-2AD9-CA90-9B80-1B12B175226C}"/>
              </a:ext>
            </a:extLst>
          </p:cNvPr>
          <p:cNvCxnSpPr>
            <a:cxnSpLocks/>
            <a:stCxn id="14" idx="2"/>
            <a:endCxn id="11" idx="1"/>
          </p:cNvCxnSpPr>
          <p:nvPr/>
        </p:nvCxnSpPr>
        <p:spPr>
          <a:xfrm>
            <a:off x="4864748" y="3310235"/>
            <a:ext cx="45190" cy="36492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A227B860-D031-B0C9-B2B6-6F8F5B355ACE}"/>
              </a:ext>
            </a:extLst>
          </p:cNvPr>
          <p:cNvCxnSpPr>
            <a:cxnSpLocks/>
            <a:stCxn id="14" idx="0"/>
            <a:endCxn id="2" idx="4"/>
          </p:cNvCxnSpPr>
          <p:nvPr/>
        </p:nvCxnSpPr>
        <p:spPr>
          <a:xfrm flipH="1" flipV="1">
            <a:off x="4568900" y="2660800"/>
            <a:ext cx="295848" cy="433435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1BBE57EA-0A1B-DCA7-CF63-D3C9688BCCDA}"/>
              </a:ext>
            </a:extLst>
          </p:cNvPr>
          <p:cNvCxnSpPr>
            <a:cxnSpLocks/>
            <a:stCxn id="2" idx="2"/>
            <a:endCxn id="3" idx="7"/>
          </p:cNvCxnSpPr>
          <p:nvPr/>
        </p:nvCxnSpPr>
        <p:spPr>
          <a:xfrm flipH="1">
            <a:off x="3962716" y="2498800"/>
            <a:ext cx="444184" cy="110255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256C52F-C615-C4FB-BF54-F53FF60C7FEB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>
            <a:off x="5155761" y="3776986"/>
            <a:ext cx="563713" cy="20301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F5559C8B-363F-0E6F-363F-D7193928B7E5}"/>
              </a:ext>
            </a:extLst>
          </p:cNvPr>
          <p:cNvCxnSpPr>
            <a:cxnSpLocks/>
            <a:stCxn id="13" idx="1"/>
            <a:endCxn id="14" idx="3"/>
          </p:cNvCxnSpPr>
          <p:nvPr/>
        </p:nvCxnSpPr>
        <p:spPr>
          <a:xfrm flipH="1" flipV="1">
            <a:off x="4972748" y="3202235"/>
            <a:ext cx="801867" cy="64464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7991B7B5-C4FF-F11E-7035-E4A689723F76}"/>
              </a:ext>
            </a:extLst>
          </p:cNvPr>
          <p:cNvCxnSpPr>
            <a:cxnSpLocks/>
            <a:stCxn id="3" idx="5"/>
            <a:endCxn id="14" idx="1"/>
          </p:cNvCxnSpPr>
          <p:nvPr/>
        </p:nvCxnSpPr>
        <p:spPr>
          <a:xfrm>
            <a:off x="3962716" y="2863613"/>
            <a:ext cx="794032" cy="338622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3F59EDA0-E14A-F475-9928-1DAF1C58558E}"/>
              </a:ext>
            </a:extLst>
          </p:cNvPr>
          <p:cNvSpPr txBox="1"/>
          <p:nvPr/>
        </p:nvSpPr>
        <p:spPr>
          <a:xfrm>
            <a:off x="4718612" y="2652237"/>
            <a:ext cx="2280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8 km | 12 € | 2 kg CO2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25183C0E-F039-71E5-CEEA-7E22766D7C94}"/>
              </a:ext>
            </a:extLst>
          </p:cNvPr>
          <p:cNvSpPr txBox="1"/>
          <p:nvPr/>
        </p:nvSpPr>
        <p:spPr>
          <a:xfrm>
            <a:off x="5437617" y="3315015"/>
            <a:ext cx="2280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8 km | 8 € | 12 kg CO2</a:t>
            </a:r>
          </a:p>
        </p:txBody>
      </p:sp>
    </p:spTree>
    <p:extLst>
      <p:ext uri="{BB962C8B-B14F-4D97-AF65-F5344CB8AC3E}">
        <p14:creationId xmlns:p14="http://schemas.microsoft.com/office/powerpoint/2010/main" val="2865149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57FED58F-2330-73E9-196C-AFB3F7DA8845}"/>
              </a:ext>
            </a:extLst>
          </p:cNvPr>
          <p:cNvSpPr/>
          <p:nvPr/>
        </p:nvSpPr>
        <p:spPr>
          <a:xfrm>
            <a:off x="3009900" y="1028700"/>
            <a:ext cx="3251200" cy="800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b="1" dirty="0"/>
              <a:t>Fleet </a:t>
            </a:r>
            <a:r>
              <a:rPr lang="de-DE" sz="2400" b="1" dirty="0" err="1"/>
              <a:t>size</a:t>
            </a:r>
            <a:r>
              <a:rPr lang="de-DE" sz="2400" b="1" dirty="0"/>
              <a:t> &amp; mix 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8F346665-7912-451F-A1CB-62AA3253F316}"/>
              </a:ext>
            </a:extLst>
          </p:cNvPr>
          <p:cNvSpPr/>
          <p:nvPr/>
        </p:nvSpPr>
        <p:spPr>
          <a:xfrm>
            <a:off x="3009900" y="2425700"/>
            <a:ext cx="3251200" cy="800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b="1" dirty="0" err="1"/>
              <a:t>Cost</a:t>
            </a:r>
            <a:r>
              <a:rPr lang="de-DE" sz="2400" b="1" dirty="0"/>
              <a:t> </a:t>
            </a:r>
            <a:r>
              <a:rPr lang="de-DE" sz="2400" b="1" dirty="0" err="1"/>
              <a:t>Tarifing</a:t>
            </a:r>
            <a:r>
              <a:rPr lang="de-DE" sz="2400" b="1" dirty="0"/>
              <a:t> &amp; Emission Declaration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E61BFAA7-58AB-1AD5-C92F-E747557E060E}"/>
              </a:ext>
            </a:extLst>
          </p:cNvPr>
          <p:cNvSpPr/>
          <p:nvPr/>
        </p:nvSpPr>
        <p:spPr>
          <a:xfrm>
            <a:off x="3009900" y="3835400"/>
            <a:ext cx="3251200" cy="800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b="1" dirty="0"/>
              <a:t>Preference-</a:t>
            </a:r>
            <a:r>
              <a:rPr lang="de-DE" sz="2400" b="1" dirty="0" err="1"/>
              <a:t>oriented</a:t>
            </a:r>
            <a:r>
              <a:rPr lang="de-DE" sz="2400" b="1" dirty="0"/>
              <a:t> Routing &amp; Scheduling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4EEDB33-51DC-C267-DE0D-AC5C052F9C6D}"/>
              </a:ext>
            </a:extLst>
          </p:cNvPr>
          <p:cNvSpPr txBox="1"/>
          <p:nvPr/>
        </p:nvSpPr>
        <p:spPr>
          <a:xfrm>
            <a:off x="1701800" y="1345684"/>
            <a:ext cx="1046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 err="1"/>
              <a:t>strategic</a:t>
            </a:r>
            <a:endParaRPr lang="de-DE" i="1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EFA7B85-7F1B-A208-FBC6-C7AFADF2F77F}"/>
              </a:ext>
            </a:extLst>
          </p:cNvPr>
          <p:cNvSpPr txBox="1"/>
          <p:nvPr/>
        </p:nvSpPr>
        <p:spPr>
          <a:xfrm>
            <a:off x="1701800" y="2641084"/>
            <a:ext cx="929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 err="1"/>
              <a:t>tactical</a:t>
            </a:r>
            <a:endParaRPr lang="de-DE" i="1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AA4A916-C0BB-8BFD-BDED-DE0E1E2F2BB7}"/>
              </a:ext>
            </a:extLst>
          </p:cNvPr>
          <p:cNvSpPr txBox="1"/>
          <p:nvPr/>
        </p:nvSpPr>
        <p:spPr>
          <a:xfrm>
            <a:off x="1508253" y="4050784"/>
            <a:ext cx="1316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/>
              <a:t>operational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9B233B6-8F68-4742-C32C-63D2F48E57A3}"/>
              </a:ext>
            </a:extLst>
          </p:cNvPr>
          <p:cNvCxnSpPr>
            <a:cxnSpLocks/>
          </p:cNvCxnSpPr>
          <p:nvPr/>
        </p:nvCxnSpPr>
        <p:spPr>
          <a:xfrm>
            <a:off x="4165600" y="1834118"/>
            <a:ext cx="0" cy="590898"/>
          </a:xfrm>
          <a:prstGeom prst="straightConnector1">
            <a:avLst/>
          </a:prstGeom>
          <a:ln w="31750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EDA888E4-5889-69A4-D769-065C96388361}"/>
              </a:ext>
            </a:extLst>
          </p:cNvPr>
          <p:cNvSpPr txBox="1"/>
          <p:nvPr/>
        </p:nvSpPr>
        <p:spPr>
          <a:xfrm>
            <a:off x="2858095" y="1894443"/>
            <a:ext cx="12122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#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trucks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0C4F41E-3F50-E6BF-08EF-C6DB56DD6F1B}"/>
              </a:ext>
            </a:extLst>
          </p:cNvPr>
          <p:cNvCxnSpPr>
            <a:cxnSpLocks/>
          </p:cNvCxnSpPr>
          <p:nvPr/>
        </p:nvCxnSpPr>
        <p:spPr>
          <a:xfrm>
            <a:off x="5130800" y="1816100"/>
            <a:ext cx="0" cy="608916"/>
          </a:xfrm>
          <a:prstGeom prst="straightConnector1">
            <a:avLst/>
          </a:prstGeom>
          <a:ln w="31750">
            <a:headEnd type="stealth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BBC8BDF7-2B87-A093-76C7-D0CCE5794DA0}"/>
              </a:ext>
            </a:extLst>
          </p:cNvPr>
          <p:cNvSpPr txBox="1"/>
          <p:nvPr/>
        </p:nvSpPr>
        <p:spPr>
          <a:xfrm>
            <a:off x="5226050" y="1778685"/>
            <a:ext cx="1606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Customer </a:t>
            </a:r>
            <a:r>
              <a:rPr lang="de-DE" dirty="0" err="1"/>
              <a:t>satisfaction</a:t>
            </a:r>
            <a:endParaRPr lang="de-DE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A2B812-205C-D76E-80FB-54B847227A51}"/>
              </a:ext>
            </a:extLst>
          </p:cNvPr>
          <p:cNvCxnSpPr>
            <a:cxnSpLocks/>
          </p:cNvCxnSpPr>
          <p:nvPr/>
        </p:nvCxnSpPr>
        <p:spPr>
          <a:xfrm>
            <a:off x="4165600" y="3243818"/>
            <a:ext cx="0" cy="590898"/>
          </a:xfrm>
          <a:prstGeom prst="straightConnector1">
            <a:avLst/>
          </a:prstGeom>
          <a:ln w="31750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813FFD4E-C660-A225-E109-DEF25635DC20}"/>
              </a:ext>
            </a:extLst>
          </p:cNvPr>
          <p:cNvSpPr txBox="1"/>
          <p:nvPr/>
        </p:nvSpPr>
        <p:spPr>
          <a:xfrm>
            <a:off x="2377759" y="3225800"/>
            <a:ext cx="17361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/>
              <a:t>#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trucks</a:t>
            </a:r>
            <a:r>
              <a:rPr lang="de-DE" dirty="0"/>
              <a:t> &amp;</a:t>
            </a:r>
          </a:p>
          <a:p>
            <a:pPr algn="r"/>
            <a:r>
              <a:rPr lang="de-DE" dirty="0" err="1"/>
              <a:t>Allocation</a:t>
            </a:r>
            <a:r>
              <a:rPr lang="de-DE" dirty="0"/>
              <a:t> </a:t>
            </a:r>
            <a:r>
              <a:rPr lang="de-DE" dirty="0" err="1"/>
              <a:t>rules</a:t>
            </a:r>
            <a:endParaRPr lang="de-DE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C6428F71-87C2-E12D-CF2C-6DB22DBB46DA}"/>
              </a:ext>
            </a:extLst>
          </p:cNvPr>
          <p:cNvCxnSpPr>
            <a:cxnSpLocks/>
          </p:cNvCxnSpPr>
          <p:nvPr/>
        </p:nvCxnSpPr>
        <p:spPr>
          <a:xfrm>
            <a:off x="5130800" y="3225800"/>
            <a:ext cx="0" cy="608916"/>
          </a:xfrm>
          <a:prstGeom prst="straightConnector1">
            <a:avLst/>
          </a:prstGeom>
          <a:ln w="31750">
            <a:headEnd type="stealth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6AD957C9-C0FB-A1F0-6C62-F27B12C4F909}"/>
              </a:ext>
            </a:extLst>
          </p:cNvPr>
          <p:cNvSpPr txBox="1"/>
          <p:nvPr/>
        </p:nvSpPr>
        <p:spPr>
          <a:xfrm>
            <a:off x="5226048" y="3188385"/>
            <a:ext cx="2673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truck</a:t>
            </a:r>
            <a:r>
              <a:rPr lang="de-DE" dirty="0"/>
              <a:t> </a:t>
            </a:r>
            <a:r>
              <a:rPr lang="de-DE" dirty="0" err="1"/>
              <a:t>assignment</a:t>
            </a:r>
            <a:r>
              <a:rPr lang="de-DE" dirty="0"/>
              <a:t> &amp; </a:t>
            </a:r>
          </a:p>
          <a:p>
            <a:r>
              <a:rPr lang="de-DE" dirty="0"/>
              <a:t>Selected </a:t>
            </a:r>
            <a:r>
              <a:rPr lang="de-DE" dirty="0" err="1"/>
              <a:t>allocation</a:t>
            </a:r>
            <a:r>
              <a:rPr lang="de-DE" dirty="0"/>
              <a:t> </a:t>
            </a:r>
            <a:r>
              <a:rPr lang="de-DE" dirty="0" err="1"/>
              <a:t>rules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1904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D8D64C68-51D8-5C6F-6727-329D270FB46A}"/>
              </a:ext>
            </a:extLst>
          </p:cNvPr>
          <p:cNvSpPr/>
          <p:nvPr/>
        </p:nvSpPr>
        <p:spPr>
          <a:xfrm>
            <a:off x="1892300" y="1485900"/>
            <a:ext cx="3251200" cy="800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b="1" dirty="0"/>
              <a:t>Fleet </a:t>
            </a:r>
            <a:r>
              <a:rPr lang="de-DE" sz="2400" b="1" dirty="0" err="1"/>
              <a:t>size</a:t>
            </a:r>
            <a:r>
              <a:rPr lang="de-DE" sz="2400" b="1" dirty="0"/>
              <a:t> &amp; mix 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245107FE-1E58-58A4-B6E3-1C244AEE4E32}"/>
              </a:ext>
            </a:extLst>
          </p:cNvPr>
          <p:cNvSpPr/>
          <p:nvPr/>
        </p:nvSpPr>
        <p:spPr>
          <a:xfrm>
            <a:off x="1892300" y="2882900"/>
            <a:ext cx="3251200" cy="800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b="1" dirty="0" err="1"/>
              <a:t>Cost</a:t>
            </a:r>
            <a:r>
              <a:rPr lang="de-DE" sz="2400" b="1" dirty="0"/>
              <a:t> </a:t>
            </a:r>
            <a:r>
              <a:rPr lang="de-DE" sz="2400" b="1" dirty="0" err="1"/>
              <a:t>Tarifing</a:t>
            </a:r>
            <a:r>
              <a:rPr lang="de-DE" sz="2400" b="1" dirty="0"/>
              <a:t> &amp; Emission Declaration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C57F9945-E8DB-5148-EC0A-3D3674422574}"/>
              </a:ext>
            </a:extLst>
          </p:cNvPr>
          <p:cNvSpPr/>
          <p:nvPr/>
        </p:nvSpPr>
        <p:spPr>
          <a:xfrm>
            <a:off x="1892300" y="4292600"/>
            <a:ext cx="3251200" cy="800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b="1" dirty="0"/>
              <a:t>Preference-</a:t>
            </a:r>
            <a:r>
              <a:rPr lang="de-DE" sz="2400" b="1" dirty="0" err="1"/>
              <a:t>oriented</a:t>
            </a:r>
            <a:r>
              <a:rPr lang="de-DE" sz="2400" b="1" dirty="0"/>
              <a:t> Routing &amp; Scheduling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83B88CE-86ED-7472-7E48-18EDAA2F1EFC}"/>
              </a:ext>
            </a:extLst>
          </p:cNvPr>
          <p:cNvSpPr txBox="1"/>
          <p:nvPr/>
        </p:nvSpPr>
        <p:spPr>
          <a:xfrm>
            <a:off x="584200" y="1802884"/>
            <a:ext cx="1046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 err="1"/>
              <a:t>strategic</a:t>
            </a:r>
            <a:endParaRPr lang="de-DE" i="1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FDE479-4240-7359-3793-33EDA63DC3FA}"/>
              </a:ext>
            </a:extLst>
          </p:cNvPr>
          <p:cNvSpPr txBox="1"/>
          <p:nvPr/>
        </p:nvSpPr>
        <p:spPr>
          <a:xfrm>
            <a:off x="584200" y="3098284"/>
            <a:ext cx="929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 err="1"/>
              <a:t>tactical</a:t>
            </a:r>
            <a:endParaRPr lang="de-DE" i="1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0080F18-B700-A8D5-7BDE-7B957F197A5F}"/>
              </a:ext>
            </a:extLst>
          </p:cNvPr>
          <p:cNvSpPr txBox="1"/>
          <p:nvPr/>
        </p:nvSpPr>
        <p:spPr>
          <a:xfrm>
            <a:off x="390653" y="4507984"/>
            <a:ext cx="1316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/>
              <a:t>operational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ACE3FFF-FDD5-3D02-42B9-43922E78CB80}"/>
              </a:ext>
            </a:extLst>
          </p:cNvPr>
          <p:cNvCxnSpPr>
            <a:cxnSpLocks/>
          </p:cNvCxnSpPr>
          <p:nvPr/>
        </p:nvCxnSpPr>
        <p:spPr>
          <a:xfrm>
            <a:off x="3048000" y="2291318"/>
            <a:ext cx="0" cy="590898"/>
          </a:xfrm>
          <a:prstGeom prst="straightConnector1">
            <a:avLst/>
          </a:prstGeom>
          <a:ln w="31750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DEA4D87-019A-84D9-629F-ED3CC96849D3}"/>
              </a:ext>
            </a:extLst>
          </p:cNvPr>
          <p:cNvCxnSpPr>
            <a:cxnSpLocks/>
          </p:cNvCxnSpPr>
          <p:nvPr/>
        </p:nvCxnSpPr>
        <p:spPr>
          <a:xfrm>
            <a:off x="4013200" y="2273300"/>
            <a:ext cx="0" cy="608916"/>
          </a:xfrm>
          <a:prstGeom prst="straightConnector1">
            <a:avLst/>
          </a:prstGeom>
          <a:ln w="31750">
            <a:headEnd type="stealth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F0EA02AD-4468-44C2-5261-8A4ECB4C01C2}"/>
              </a:ext>
            </a:extLst>
          </p:cNvPr>
          <p:cNvCxnSpPr>
            <a:cxnSpLocks/>
          </p:cNvCxnSpPr>
          <p:nvPr/>
        </p:nvCxnSpPr>
        <p:spPr>
          <a:xfrm>
            <a:off x="3048000" y="3701018"/>
            <a:ext cx="0" cy="590898"/>
          </a:xfrm>
          <a:prstGeom prst="straightConnector1">
            <a:avLst/>
          </a:prstGeom>
          <a:ln w="31750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97665A2-D909-A6B0-327B-7F4C77ABD878}"/>
              </a:ext>
            </a:extLst>
          </p:cNvPr>
          <p:cNvCxnSpPr>
            <a:cxnSpLocks/>
          </p:cNvCxnSpPr>
          <p:nvPr/>
        </p:nvCxnSpPr>
        <p:spPr>
          <a:xfrm>
            <a:off x="4013200" y="3683000"/>
            <a:ext cx="0" cy="608916"/>
          </a:xfrm>
          <a:prstGeom prst="straightConnector1">
            <a:avLst/>
          </a:prstGeom>
          <a:ln w="31750">
            <a:headEnd type="stealth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37621B44-1BB5-A109-EDA4-DED5EABFFBE3}"/>
              </a:ext>
            </a:extLst>
          </p:cNvPr>
          <p:cNvSpPr/>
          <p:nvPr/>
        </p:nvSpPr>
        <p:spPr>
          <a:xfrm>
            <a:off x="1707487" y="2721617"/>
            <a:ext cx="9620907" cy="3488683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de-DE" sz="2000" b="1" dirty="0">
                <a:solidFill>
                  <a:schemeClr val="tx1"/>
                </a:solidFill>
              </a:rPr>
              <a:t>Martin-Luther-Universität Halle-Wittenberg</a:t>
            </a:r>
          </a:p>
          <a:p>
            <a:pPr algn="r"/>
            <a:r>
              <a:rPr lang="de-DE" sz="2000" b="1" dirty="0">
                <a:solidFill>
                  <a:schemeClr val="tx1"/>
                </a:solidFill>
              </a:rPr>
              <a:t>Lehrstuhl für Produktion &amp; Logistik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4258BCDA-916C-72F3-825B-7EBBECD0A673}"/>
              </a:ext>
            </a:extLst>
          </p:cNvPr>
          <p:cNvSpPr/>
          <p:nvPr/>
        </p:nvSpPr>
        <p:spPr>
          <a:xfrm>
            <a:off x="1707488" y="363924"/>
            <a:ext cx="9620912" cy="3488683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2000" b="1" dirty="0">
                <a:solidFill>
                  <a:schemeClr val="tx1"/>
                </a:solidFill>
              </a:rPr>
              <a:t>Hochschule RheinMain</a:t>
            </a:r>
          </a:p>
          <a:p>
            <a:pPr algn="r"/>
            <a:r>
              <a:rPr lang="de-DE" sz="2000" b="1" dirty="0">
                <a:solidFill>
                  <a:schemeClr val="tx1"/>
                </a:solidFill>
              </a:rPr>
              <a:t>Professur für </a:t>
            </a:r>
            <a:r>
              <a:rPr lang="de-DE" sz="2000" b="1" dirty="0" err="1">
                <a:solidFill>
                  <a:schemeClr val="tx1"/>
                </a:solidFill>
              </a:rPr>
              <a:t>Sustainable</a:t>
            </a:r>
            <a:r>
              <a:rPr lang="de-DE" sz="2000" b="1" dirty="0">
                <a:solidFill>
                  <a:schemeClr val="tx1"/>
                </a:solidFill>
              </a:rPr>
              <a:t> </a:t>
            </a:r>
            <a:r>
              <a:rPr lang="de-DE" sz="2000" b="1" dirty="0" err="1">
                <a:solidFill>
                  <a:schemeClr val="tx1"/>
                </a:solidFill>
              </a:rPr>
              <a:t>Operations</a:t>
            </a:r>
            <a:r>
              <a:rPr lang="de-DE" sz="2000" b="1" dirty="0">
                <a:solidFill>
                  <a:schemeClr val="tx1"/>
                </a:solidFill>
              </a:rPr>
              <a:t> Management</a:t>
            </a:r>
          </a:p>
        </p:txBody>
      </p:sp>
      <p:pic>
        <p:nvPicPr>
          <p:cNvPr id="20" name="Grafik 19" descr="Alexander Lunin – PHD Student bei Technische Universität ...">
            <a:extLst>
              <a:ext uri="{FF2B5EF4-FFF2-40B4-BE49-F238E27FC236}">
                <a16:creationId xmlns:a16="http://schemas.microsoft.com/office/drawing/2014/main" id="{D89EFCF6-1933-651A-0734-245FCDC1F0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6155" y="1321130"/>
            <a:ext cx="1283368" cy="1283368"/>
          </a:xfrm>
          <a:prstGeom prst="rect">
            <a:avLst/>
          </a:prstGeom>
        </p:spPr>
      </p:pic>
      <p:pic>
        <p:nvPicPr>
          <p:cNvPr id="22" name="Grafik 21" descr="The image shows a person wearing a suit and tie, dressed formally.&#10;&#10;KI-generierte Inhalte können fehlerhaft sein.">
            <a:extLst>
              <a:ext uri="{FF2B5EF4-FFF2-40B4-BE49-F238E27FC236}">
                <a16:creationId xmlns:a16="http://schemas.microsoft.com/office/drawing/2014/main" id="{27A812A2-5A4B-5F93-74F2-0CCBCA21D0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44" y="1321130"/>
            <a:ext cx="914400" cy="1283368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FB12DD8F-635E-4AE9-8B40-A4D697EB0F2C}"/>
              </a:ext>
            </a:extLst>
          </p:cNvPr>
          <p:cNvSpPr txBox="1"/>
          <p:nvPr/>
        </p:nvSpPr>
        <p:spPr>
          <a:xfrm>
            <a:off x="6905786" y="1670426"/>
            <a:ext cx="11726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Thomas</a:t>
            </a:r>
          </a:p>
          <a:p>
            <a:r>
              <a:rPr lang="de-DE" sz="1600" i="1" dirty="0"/>
              <a:t>Kirschstein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0AE08D4-6311-26E5-3D46-F5D8D4869503}"/>
              </a:ext>
            </a:extLst>
          </p:cNvPr>
          <p:cNvSpPr txBox="1"/>
          <p:nvPr/>
        </p:nvSpPr>
        <p:spPr>
          <a:xfrm>
            <a:off x="9805921" y="1670426"/>
            <a:ext cx="10700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Alexander</a:t>
            </a:r>
          </a:p>
          <a:p>
            <a:r>
              <a:rPr lang="de-DE" sz="1600" i="1" dirty="0"/>
              <a:t>Lunin</a:t>
            </a:r>
          </a:p>
        </p:txBody>
      </p:sp>
      <p:pic>
        <p:nvPicPr>
          <p:cNvPr id="25" name="Grafik 24" descr="Prof. Dr. Christian Bierwirth">
            <a:extLst>
              <a:ext uri="{FF2B5EF4-FFF2-40B4-BE49-F238E27FC236}">
                <a16:creationId xmlns:a16="http://schemas.microsoft.com/office/drawing/2014/main" id="{C559242E-1529-0533-3F3F-94FAB17D5E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9745" y="4011699"/>
            <a:ext cx="914400" cy="1379095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9603B61B-0440-6294-02C3-0402024F3495}"/>
              </a:ext>
            </a:extLst>
          </p:cNvPr>
          <p:cNvSpPr txBox="1"/>
          <p:nvPr/>
        </p:nvSpPr>
        <p:spPr>
          <a:xfrm>
            <a:off x="6905786" y="4400262"/>
            <a:ext cx="9913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Christian</a:t>
            </a:r>
          </a:p>
          <a:p>
            <a:r>
              <a:rPr lang="de-DE" sz="1600" i="1" dirty="0"/>
              <a:t>Bierwirth</a:t>
            </a:r>
          </a:p>
        </p:txBody>
      </p:sp>
      <p:pic>
        <p:nvPicPr>
          <p:cNvPr id="27" name="Grafik 26" descr="Justin Wittig – Martin-Luther-Universität Halle-Wittenberg | LinkedIn">
            <a:extLst>
              <a:ext uri="{FF2B5EF4-FFF2-40B4-BE49-F238E27FC236}">
                <a16:creationId xmlns:a16="http://schemas.microsoft.com/office/drawing/2014/main" id="{4EF8A4D3-0F0F-5C2A-E552-99C84613FD1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2478"/>
          <a:stretch>
            <a:fillRect/>
          </a:stretch>
        </p:blipFill>
        <p:spPr>
          <a:xfrm>
            <a:off x="8491715" y="3948842"/>
            <a:ext cx="1237805" cy="1414284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57C1BEE2-36D1-BDE6-6DE0-AD0B3C53FE42}"/>
              </a:ext>
            </a:extLst>
          </p:cNvPr>
          <p:cNvSpPr txBox="1"/>
          <p:nvPr/>
        </p:nvSpPr>
        <p:spPr>
          <a:xfrm>
            <a:off x="9805921" y="4400261"/>
            <a:ext cx="6899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Justin</a:t>
            </a:r>
          </a:p>
          <a:p>
            <a:r>
              <a:rPr lang="de-DE" sz="1600" i="1" dirty="0"/>
              <a:t>Wittig</a:t>
            </a:r>
          </a:p>
        </p:txBody>
      </p:sp>
    </p:spTree>
    <p:extLst>
      <p:ext uri="{BB962C8B-B14F-4D97-AF65-F5344CB8AC3E}">
        <p14:creationId xmlns:p14="http://schemas.microsoft.com/office/powerpoint/2010/main" val="3210260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A1367-8E38-FF5A-2A3D-9FE40621E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73E272E7-18C5-FEA2-CEA3-17B0F74D9D7B}"/>
              </a:ext>
            </a:extLst>
          </p:cNvPr>
          <p:cNvSpPr/>
          <p:nvPr/>
        </p:nvSpPr>
        <p:spPr>
          <a:xfrm>
            <a:off x="1892300" y="1485900"/>
            <a:ext cx="3251200" cy="800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b="1" dirty="0"/>
              <a:t>Fleet </a:t>
            </a:r>
            <a:r>
              <a:rPr lang="de-DE" sz="2400" b="1" dirty="0" err="1"/>
              <a:t>size</a:t>
            </a:r>
            <a:r>
              <a:rPr lang="de-DE" sz="2400" b="1" dirty="0"/>
              <a:t> &amp; mix 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91C8C8CF-5AFA-34A7-EA23-622A68E63136}"/>
              </a:ext>
            </a:extLst>
          </p:cNvPr>
          <p:cNvSpPr/>
          <p:nvPr/>
        </p:nvSpPr>
        <p:spPr>
          <a:xfrm>
            <a:off x="1892300" y="2882900"/>
            <a:ext cx="3251200" cy="800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b="1" dirty="0" err="1"/>
              <a:t>Cost</a:t>
            </a:r>
            <a:r>
              <a:rPr lang="de-DE" sz="2400" b="1" dirty="0"/>
              <a:t> </a:t>
            </a:r>
            <a:r>
              <a:rPr lang="de-DE" sz="2400" b="1" dirty="0" err="1"/>
              <a:t>Tarifing</a:t>
            </a:r>
            <a:r>
              <a:rPr lang="de-DE" sz="2400" b="1" dirty="0"/>
              <a:t> &amp; Emission Declaration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B64FC09-F93F-5B6C-7275-21E27AFFA7E4}"/>
              </a:ext>
            </a:extLst>
          </p:cNvPr>
          <p:cNvSpPr/>
          <p:nvPr/>
        </p:nvSpPr>
        <p:spPr>
          <a:xfrm>
            <a:off x="1892300" y="4292600"/>
            <a:ext cx="3251200" cy="800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b="1" dirty="0"/>
              <a:t>Preference-</a:t>
            </a:r>
            <a:r>
              <a:rPr lang="de-DE" sz="2400" b="1" dirty="0" err="1"/>
              <a:t>oriented</a:t>
            </a:r>
            <a:r>
              <a:rPr lang="de-DE" sz="2400" b="1" dirty="0"/>
              <a:t> Routing &amp; Scheduling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82B252D-F0BE-9A5D-3873-37A42DA04CE4}"/>
              </a:ext>
            </a:extLst>
          </p:cNvPr>
          <p:cNvSpPr txBox="1"/>
          <p:nvPr/>
        </p:nvSpPr>
        <p:spPr>
          <a:xfrm>
            <a:off x="584200" y="1802884"/>
            <a:ext cx="1046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 err="1"/>
              <a:t>strategic</a:t>
            </a:r>
            <a:endParaRPr lang="de-DE" i="1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5A5AC22-8380-EFFA-9DFF-E3F8B953B261}"/>
              </a:ext>
            </a:extLst>
          </p:cNvPr>
          <p:cNvSpPr txBox="1"/>
          <p:nvPr/>
        </p:nvSpPr>
        <p:spPr>
          <a:xfrm>
            <a:off x="584200" y="3098284"/>
            <a:ext cx="929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 err="1"/>
              <a:t>tactical</a:t>
            </a:r>
            <a:endParaRPr lang="de-DE" i="1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32EA485-C566-14A5-51F7-5C5BEA90F84D}"/>
              </a:ext>
            </a:extLst>
          </p:cNvPr>
          <p:cNvSpPr txBox="1"/>
          <p:nvPr/>
        </p:nvSpPr>
        <p:spPr>
          <a:xfrm>
            <a:off x="390653" y="4507984"/>
            <a:ext cx="1316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/>
              <a:t>operational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64538A9-A412-E5EC-9911-5DE9CFE9B9E8}"/>
              </a:ext>
            </a:extLst>
          </p:cNvPr>
          <p:cNvCxnSpPr>
            <a:cxnSpLocks/>
          </p:cNvCxnSpPr>
          <p:nvPr/>
        </p:nvCxnSpPr>
        <p:spPr>
          <a:xfrm>
            <a:off x="3048000" y="2291318"/>
            <a:ext cx="0" cy="590898"/>
          </a:xfrm>
          <a:prstGeom prst="straightConnector1">
            <a:avLst/>
          </a:prstGeom>
          <a:ln w="31750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92CF9FE2-A738-E873-7965-0EC9BDA879E7}"/>
              </a:ext>
            </a:extLst>
          </p:cNvPr>
          <p:cNvCxnSpPr>
            <a:cxnSpLocks/>
          </p:cNvCxnSpPr>
          <p:nvPr/>
        </p:nvCxnSpPr>
        <p:spPr>
          <a:xfrm>
            <a:off x="4013200" y="2273300"/>
            <a:ext cx="0" cy="608916"/>
          </a:xfrm>
          <a:prstGeom prst="straightConnector1">
            <a:avLst/>
          </a:prstGeom>
          <a:ln w="31750">
            <a:headEnd type="stealth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0632837-E354-2838-BF92-E79E9D38ECC4}"/>
              </a:ext>
            </a:extLst>
          </p:cNvPr>
          <p:cNvCxnSpPr>
            <a:cxnSpLocks/>
          </p:cNvCxnSpPr>
          <p:nvPr/>
        </p:nvCxnSpPr>
        <p:spPr>
          <a:xfrm>
            <a:off x="3048000" y="3701018"/>
            <a:ext cx="0" cy="590898"/>
          </a:xfrm>
          <a:prstGeom prst="straightConnector1">
            <a:avLst/>
          </a:prstGeom>
          <a:ln w="31750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2486E54-DFFE-3D51-EEE5-5623BCB71376}"/>
              </a:ext>
            </a:extLst>
          </p:cNvPr>
          <p:cNvCxnSpPr>
            <a:cxnSpLocks/>
          </p:cNvCxnSpPr>
          <p:nvPr/>
        </p:nvCxnSpPr>
        <p:spPr>
          <a:xfrm>
            <a:off x="4013200" y="3683000"/>
            <a:ext cx="0" cy="608916"/>
          </a:xfrm>
          <a:prstGeom prst="straightConnector1">
            <a:avLst/>
          </a:prstGeom>
          <a:ln w="31750">
            <a:headEnd type="stealth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F25BF91E-DFF9-F94F-6280-FF856FE1D8A4}"/>
              </a:ext>
            </a:extLst>
          </p:cNvPr>
          <p:cNvSpPr/>
          <p:nvPr/>
        </p:nvSpPr>
        <p:spPr>
          <a:xfrm>
            <a:off x="1707487" y="4098470"/>
            <a:ext cx="9620907" cy="2111830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2000" b="1" dirty="0">
                <a:solidFill>
                  <a:schemeClr val="tx1"/>
                </a:solidFill>
              </a:rPr>
              <a:t>Präferenz-orientierten Tourenplanungsproblemen </a:t>
            </a:r>
          </a:p>
          <a:p>
            <a:pPr marL="342900" indent="-342900" algn="r">
              <a:buFont typeface="Wingdings" panose="05000000000000000000" pitchFamily="2" charset="2"/>
              <a:buChar char="à"/>
            </a:pPr>
            <a:r>
              <a:rPr lang="de-DE" sz="2000" dirty="0">
                <a:solidFill>
                  <a:schemeClr val="tx1"/>
                </a:solidFill>
                <a:sym typeface="Wingdings" panose="05000000000000000000" pitchFamily="2" charset="2"/>
              </a:rPr>
              <a:t>Entwicklung präferenzorientierter MILPs für VRPs</a:t>
            </a:r>
          </a:p>
          <a:p>
            <a:pPr marL="342900" indent="-342900" algn="r">
              <a:buFont typeface="Wingdings" panose="05000000000000000000" pitchFamily="2" charset="2"/>
              <a:buChar char="à"/>
            </a:pPr>
            <a:r>
              <a:rPr lang="de-DE" sz="2000" dirty="0">
                <a:solidFill>
                  <a:schemeClr val="tx1"/>
                </a:solidFill>
                <a:sym typeface="Wingdings" panose="05000000000000000000" pitchFamily="2" charset="2"/>
              </a:rPr>
              <a:t>Heuristiken für große Probleme</a:t>
            </a:r>
          </a:p>
          <a:p>
            <a:pPr marL="342900" indent="-342900" algn="r">
              <a:buFont typeface="Wingdings" panose="05000000000000000000" pitchFamily="2" charset="2"/>
              <a:buChar char="à"/>
            </a:pPr>
            <a:r>
              <a:rPr lang="de-DE" sz="2000" dirty="0">
                <a:solidFill>
                  <a:schemeClr val="tx1"/>
                </a:solidFill>
                <a:sym typeface="Wingdings" panose="05000000000000000000" pitchFamily="2" charset="2"/>
              </a:rPr>
              <a:t>Integration von Kundenzufriedenheit auf operativer Ebene</a:t>
            </a:r>
            <a:endParaRPr lang="de-DE" sz="2000" dirty="0">
              <a:solidFill>
                <a:schemeClr val="tx1"/>
              </a:solidFill>
            </a:endParaRPr>
          </a:p>
          <a:p>
            <a:pPr algn="r"/>
            <a:endParaRPr lang="de-DE" sz="2000" b="1" dirty="0">
              <a:solidFill>
                <a:schemeClr val="tx1"/>
              </a:solidFill>
            </a:endParaRP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939C17DF-A551-4E9D-3E00-123600A4C07B}"/>
              </a:ext>
            </a:extLst>
          </p:cNvPr>
          <p:cNvSpPr/>
          <p:nvPr/>
        </p:nvSpPr>
        <p:spPr>
          <a:xfrm>
            <a:off x="1707488" y="800099"/>
            <a:ext cx="9620912" cy="1675655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2000" b="1" dirty="0">
                <a:solidFill>
                  <a:schemeClr val="tx1"/>
                </a:solidFill>
              </a:rPr>
              <a:t>Modellierung des kontinuierlicher Investitionsprozesse</a:t>
            </a:r>
          </a:p>
          <a:p>
            <a:pPr marL="342900" indent="-342900" algn="r">
              <a:buFont typeface="Wingdings" panose="05000000000000000000" pitchFamily="2" charset="2"/>
              <a:buChar char="à"/>
            </a:pPr>
            <a:r>
              <a:rPr lang="de-DE" sz="2000" dirty="0">
                <a:solidFill>
                  <a:schemeClr val="tx1"/>
                </a:solidFill>
                <a:sym typeface="Wingdings" panose="05000000000000000000" pitchFamily="2" charset="2"/>
              </a:rPr>
              <a:t>techno-ökonomisch: TCO-Ansatz</a:t>
            </a:r>
          </a:p>
          <a:p>
            <a:pPr marL="342900" indent="-342900" algn="r">
              <a:buFont typeface="Wingdings" panose="05000000000000000000" pitchFamily="2" charset="2"/>
              <a:buChar char="à"/>
            </a:pPr>
            <a:r>
              <a:rPr lang="de-DE" sz="2000" dirty="0">
                <a:solidFill>
                  <a:schemeClr val="tx1"/>
                </a:solidFill>
                <a:sym typeface="Wingdings" panose="05000000000000000000" pitchFamily="2" charset="2"/>
              </a:rPr>
              <a:t>stochastische Prognose Kundenaufkommen</a:t>
            </a:r>
          </a:p>
          <a:p>
            <a:pPr marL="342900" indent="-342900" algn="r">
              <a:buFont typeface="Wingdings" panose="05000000000000000000" pitchFamily="2" charset="2"/>
              <a:buChar char="à"/>
            </a:pPr>
            <a:r>
              <a:rPr lang="de-DE" sz="2000" dirty="0">
                <a:solidFill>
                  <a:schemeClr val="tx1"/>
                </a:solidFill>
                <a:sym typeface="Wingdings" panose="05000000000000000000" pitchFamily="2" charset="2"/>
              </a:rPr>
              <a:t>Dynamische Anschaffungsentscheidungen</a:t>
            </a:r>
            <a:endParaRPr lang="de-DE" sz="2000" dirty="0">
              <a:solidFill>
                <a:schemeClr val="tx1"/>
              </a:solidFill>
            </a:endParaRP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AB5BABB-AF2A-38F6-A071-E1CFC831DB51}"/>
              </a:ext>
            </a:extLst>
          </p:cNvPr>
          <p:cNvSpPr/>
          <p:nvPr/>
        </p:nvSpPr>
        <p:spPr>
          <a:xfrm>
            <a:off x="1707482" y="2493772"/>
            <a:ext cx="9620912" cy="1604014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2000" b="1" dirty="0">
                <a:solidFill>
                  <a:schemeClr val="tx1"/>
                </a:solidFill>
              </a:rPr>
              <a:t>Simulationsplattform</a:t>
            </a:r>
          </a:p>
          <a:p>
            <a:pPr marL="342900" indent="-342900" algn="r">
              <a:buFont typeface="Wingdings" panose="05000000000000000000" pitchFamily="2" charset="2"/>
              <a:buChar char="à"/>
            </a:pPr>
            <a:r>
              <a:rPr lang="de-DE" sz="2000" dirty="0">
                <a:solidFill>
                  <a:schemeClr val="tx1"/>
                </a:solidFill>
                <a:sym typeface="Wingdings" panose="05000000000000000000" pitchFamily="2" charset="2"/>
              </a:rPr>
              <a:t>Heuristische Lösung VRPs mit zufälligen Kunden</a:t>
            </a:r>
          </a:p>
          <a:p>
            <a:pPr marL="342900" indent="-342900" algn="r">
              <a:buFont typeface="Wingdings" panose="05000000000000000000" pitchFamily="2" charset="2"/>
              <a:buChar char="à"/>
            </a:pPr>
            <a:r>
              <a:rPr lang="de-DE" sz="2000" dirty="0">
                <a:solidFill>
                  <a:schemeClr val="tx1"/>
                </a:solidFill>
                <a:sym typeface="Wingdings" panose="05000000000000000000" pitchFamily="2" charset="2"/>
              </a:rPr>
              <a:t>Entwicklung techno-ökonomischer Parameter</a:t>
            </a:r>
          </a:p>
          <a:p>
            <a:pPr marL="342900" indent="-342900" algn="r">
              <a:buFont typeface="Wingdings" panose="05000000000000000000" pitchFamily="2" charset="2"/>
              <a:buChar char="à"/>
            </a:pPr>
            <a:r>
              <a:rPr lang="de-DE" sz="2000" dirty="0">
                <a:solidFill>
                  <a:schemeClr val="tx1"/>
                </a:solidFill>
                <a:sym typeface="Wingdings" panose="05000000000000000000" pitchFamily="2" charset="2"/>
              </a:rPr>
              <a:t>Kundenzufriedenheitsprozesse</a:t>
            </a:r>
            <a:endParaRPr lang="de-DE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3067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9AF034F0B670B4891A61F46F0FD4463" ma:contentTypeVersion="13" ma:contentTypeDescription="Ein neues Dokument erstellen." ma:contentTypeScope="" ma:versionID="702f8338609bb484bdb0ddb8e045398d">
  <xsd:schema xmlns:xsd="http://www.w3.org/2001/XMLSchema" xmlns:xs="http://www.w3.org/2001/XMLSchema" xmlns:p="http://schemas.microsoft.com/office/2006/metadata/properties" xmlns:ns2="75a7cc16-a325-42f6-a633-b9d335f46d66" xmlns:ns3="19ceceb8-c9f0-4d85-b02f-4af4389ce7fe" targetNamespace="http://schemas.microsoft.com/office/2006/metadata/properties" ma:root="true" ma:fieldsID="007b09dd0f1b65eae87cbf249639ae35" ns2:_="" ns3:_="">
    <xsd:import namespace="75a7cc16-a325-42f6-a633-b9d335f46d66"/>
    <xsd:import namespace="19ceceb8-c9f0-4d85-b02f-4af4389ce7f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  <xsd:element ref="ns2:Them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a7cc16-a325-42f6-a633-b9d335f46d6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ildmarkierungen" ma:readOnly="false" ma:fieldId="{5cf76f15-5ced-4ddc-b409-7134ff3c332f}" ma:taxonomyMulti="true" ma:sspId="6eb20c4f-c5c2-492b-9954-d638c64bfe9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Thema" ma:index="19" nillable="true" ma:displayName="Thema" ma:format="Dropdown" ma:internalName="Thema">
      <xsd:simpleType>
        <xsd:restriction base="dms:Text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ceceb8-c9f0-4d85-b02f-4af4389ce7fe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f2df28fa-761b-4926-8c79-193c28f00df0}" ma:internalName="TaxCatchAll" ma:showField="CatchAllData" ma:web="19ceceb8-c9f0-4d85-b02f-4af4389ce7f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hema xmlns="75a7cc16-a325-42f6-a633-b9d335f46d66" xsi:nil="true"/>
    <TaxCatchAll xmlns="19ceceb8-c9f0-4d85-b02f-4af4389ce7fe" xsi:nil="true"/>
    <lcf76f155ced4ddcb4097134ff3c332f xmlns="75a7cc16-a325-42f6-a633-b9d335f46d66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9A50926-DF36-4E48-AEF9-9947AD1C4E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5a7cc16-a325-42f6-a633-b9d335f46d66"/>
    <ds:schemaRef ds:uri="19ceceb8-c9f0-4d85-b02f-4af4389ce7f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1F2C082-E4E9-48CA-A881-0E9B6B53FBD2}">
  <ds:schemaRefs>
    <ds:schemaRef ds:uri="http://schemas.microsoft.com/office/2006/metadata/properties"/>
    <ds:schemaRef ds:uri="http://schemas.microsoft.com/office/infopath/2007/PartnerControls"/>
    <ds:schemaRef ds:uri="75a7cc16-a325-42f6-a633-b9d335f46d66"/>
    <ds:schemaRef ds:uri="19ceceb8-c9f0-4d85-b02f-4af4389ce7fe"/>
  </ds:schemaRefs>
</ds:datastoreItem>
</file>

<file path=customXml/itemProps3.xml><?xml version="1.0" encoding="utf-8"?>
<ds:datastoreItem xmlns:ds="http://schemas.openxmlformats.org/officeDocument/2006/customXml" ds:itemID="{2904A126-324B-49D2-9297-D489D6A59BE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289</Words>
  <Application>Microsoft Office PowerPoint</Application>
  <PresentationFormat>Breitbild</PresentationFormat>
  <Paragraphs>88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Wingdings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Kirschstein, Thomas</dc:creator>
  <cp:lastModifiedBy>Kirschstein, Thomas</cp:lastModifiedBy>
  <cp:revision>13</cp:revision>
  <dcterms:created xsi:type="dcterms:W3CDTF">2026-04-26T17:55:08Z</dcterms:created>
  <dcterms:modified xsi:type="dcterms:W3CDTF">2026-05-26T08:10:14Z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0x010100D9AF034F0B670B4891A61F46F0FD4463</vt:lpwstr>
  </property>
  <property fmtid="{D5CDD505-2E9C-101B-9397-08002B2CF9AE}" pid="3" name="MediaServiceImageTags">
    <vt:lpwstr/>
  </property>
</Properties>
</file>